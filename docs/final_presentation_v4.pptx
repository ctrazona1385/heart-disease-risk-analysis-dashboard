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92" d="100"/>
          <a:sy n="92" d="100"/>
        </p:scale>
        <p:origin x="11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ron Trazona" userId="26bc86c50c6faf1a" providerId="LiveId" clId="{BC940942-95FA-4841-B364-CAC340571D83}"/>
    <pc:docChg chg="modSld">
      <pc:chgData name="Cyron Trazona" userId="26bc86c50c6faf1a" providerId="LiveId" clId="{BC940942-95FA-4841-B364-CAC340571D83}" dt="2026-04-16T14:08:50.603" v="3" actId="1076"/>
      <pc:docMkLst>
        <pc:docMk/>
      </pc:docMkLst>
      <pc:sldChg chg="modSp mod">
        <pc:chgData name="Cyron Trazona" userId="26bc86c50c6faf1a" providerId="LiveId" clId="{BC940942-95FA-4841-B364-CAC340571D83}" dt="2026-04-16T14:08:50.603" v="3" actId="1076"/>
        <pc:sldMkLst>
          <pc:docMk/>
          <pc:sldMk cId="0" sldId="266"/>
        </pc:sldMkLst>
        <pc:spChg chg="mod">
          <ac:chgData name="Cyron Trazona" userId="26bc86c50c6faf1a" providerId="LiveId" clId="{BC940942-95FA-4841-B364-CAC340571D83}" dt="2026-04-16T14:08:42.314" v="2" actId="14100"/>
          <ac:spMkLst>
            <pc:docMk/>
            <pc:sldMk cId="0" sldId="266"/>
            <ac:spMk id="27" creationId="{00000000-0000-0000-0000-000000000000}"/>
          </ac:spMkLst>
        </pc:spChg>
        <pc:spChg chg="mod">
          <ac:chgData name="Cyron Trazona" userId="26bc86c50c6faf1a" providerId="LiveId" clId="{BC940942-95FA-4841-B364-CAC340571D83}" dt="2026-04-16T14:08:50.603" v="3" actId="1076"/>
          <ac:spMkLst>
            <pc:docMk/>
            <pc:sldMk cId="0" sldId="266"/>
            <ac:spMk id="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37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presenting my Cloud Computing course project — the Heart Disease Risk Analyzer. This is a fully deployed machine learning system that lets a patient enter their health metrics, receive a risk score, and understand exactly which factors are driving that risk — with personalized recommendations. I'll walk through the problem it solves, how the system works, the results I got from the ML pipeline, and how it performs when deployed to Azure. Let's get into it."
💡 Tip: 30 seconds — just set the stage and let the title slide do the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is the number one cause of death in the United States. Does anyone know the most effective treatment? Prevention. Roughly 80% of cardiovascular disease is considered preventable through lifestyle changes — but most people don't know their risk until they're already in a hospital.
The problem breaks down into three things. First, detection is reactive — patients only find out during clinical visits, often when it's too late to prevent damage. Second, existing tools give you a score and nothing else. You don't know if it's your cholesterol, your blood pressure, your age — you just get a number. Third, these tools are built for clinicians. There's nothing a patient can open on their own and get a meaningful, explained result from.
That's the gap I set out to fill."
💡 Tip: Pause after 'prevention is the best treatment' — let the #1 stat land. ~90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is a web application built around four main goals.
First, I trained three ML models on real patient data and compared them to find the best one.
Second, that model is deployed as a containerized API — a service the frontend calls over the internet. That's the cloud core of this project.
Third, I used SHAP analysis to explain each prediction. SHAP — pronounced like the word 'shap' — stands for SHapley Additive exPlanations. It looks at each health metric and tells you how much it pushed the risk score up or down. That drives the personalized recommendations.
Fourth, everything is packaged in Docker and deployed to Azure Container Apps, which auto-scales based on traffic. I ran Locust load tests at 10, 100, and 1000 concurrent users to measure real performance under pressure."
💡 Tip: Spend about 2 minutes here — walk through each card. The SHAP explanation is the most important one to get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UCI Heart Disease, filtered to the Cleveland subset — 297 patients after dropping rows with missing values. The class split was 46% disease, 54% healthy, which is close enough to balanced that SMOTE wasn't needed.
I trained three models. Logistic Regression came out on top with a tuned AUC-ROC of 0.9475 — meaning it correctly ranks 94.75% of patient pairs. It also has the best precision and recall on the disease class, which matters most for a medical application — you don't want to miss disease cases.
One important implementation detail: SHAP's TreeExplainer only works with tree-based models. So I kept Random Forest separately as the SHAP model. The prediction uses Logistic Regression, but the explanations come from Random Forest. Both are loaded by the backend API."
💡 Tip: ~90 seconds. Point to the table when naming models. The 'why LR' bullets are your evidence — walk through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deployed dashboard running on Azure. The left sidebar collects 11 patient inputs — age, sex, chest pain type, blood pressure, cholesterol, and so on. When the patient clicks Analyze My Risk, Streamlit sends those inputs to the backend API, which runs the prediction and computes SHAP values, then sends back a JSON response.
What the patient sees is three things: the risk gauge in the middle — this patient scores 27%, low risk, shown in green. On the right, stats versus clinical thresholds — blood pressure, cholesterol, and max heart rate each get a color-coded indicator showing whether they're normal, borderline, or high. And there's an additional risk indicators column for things like ST depression and ST slope.
The whole interaction is sub-second — I'll show the performance numbers shortly."
💡 Tip: Walk through the three sections — gauge, stats vs thresholds, additional indicators. ~60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moderate risk patient — 56% — with elevated cholesterol, borderline blood pressure, and a lower-than-ideal max heart rate.
On the right is the SHAP chart. Each bar represents one actionable health metric. Red means that factor is pushing the risk score up — orange and to the right of zero. Blue means it's protective — pulling risk down. The bigger the bar, the more influence it has.
For this patient, max heart rate is the biggest red bar. That's because a lower max heart rate during exercise is associated with reduced cardiovascular fitness. Cholesterol is second.
And importantly — this chart only shows factors the patient can actually influence through lifestyle or treatment. Non-actionable clinical factors like vessel count, thalassemia type, and ECG results are still used by the model but are filtered out of the display. There's no point telling someone to change their thalassemia type.
Below the chart, personalized recommendations are generated based on whichever factors have the highest SHAP values — so the advice is directly tied to what the model found."
💡 Tip: The filtered SHAP chart is a design decision worth explaining — it shows you thought about the user experience, not just the model output. ~90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single-service Streamlit application — everything is packaged into one Docker container that runs on Azure Container Apps.
The patient opens the app in their browser. They enter their metrics in the sidebar and hit the button. Streamlit runs the prediction pipeline directly — it loads the Logistic Regression model and the Random Forest SHAP model from pickle files, scales the inputs, runs inference, computes SHAP values, and renders the results all in one process.
One architecture decision worth mentioning: I considered separating the frontend and backend into a Streamlit frontend and a separate FastAPI API. I also considered serverless — Azure Functions. But I ruled out serverless because of cold start latency — every time the function wakes up from idle, it has to load the model into memory before it can respond, which would add a noticeable delay. Container Apps keeps the model loaded and ready.
The Docker container is built locally, pushed to Azure Container Registry, and deployed to Azure Container Apps. Azure handles auto-scaling from 0 to 3 replicas based on traffic."
💡 Tip: Point to each box as you describe it. The cold start reasoning is worth saying out loud — it shows you evaluated the options. ~90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"Containerization is one of the core cloud computing concepts from this course — and this is where it's applied in practice.
Docker packages the Streamlit app, all its Python dependencies pinned to specific versions, and the model files into a single portable unit. That means the exact same container that runs on my laptop runs on Azure — no environment differences, no 'it worked locally' problems.
The deployment flow is five commands. Build the image locally, log into Azure Container Registry, tag and push the image to ACR, then run the deploy script which creates or updates the Container Apps instance.
Azure Container Apps is a managed platform that sits above raw VMs. It handles the OS, networking, and auto-scaling automatically. It scales to zero when no one is using the app — meaning zero cost when idle — and spins up replicas under load. I'll show the load test results next."
💡 Tip: The scale-to-zero detail is worth mentioning for a cloud course — it's a cost optimization concept. ~75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Locust load tests at three concurrency levels — 10, 100, and 1000 simultaneous users — and compared the Azure deployment against a local baseline.
At 10 users, local is actually faster than Azure — 7ms median locally versus 28ms on Azure. That’s expected: local has no network hop, no container overhead. Both had zero failures on core endpoints.
At 100 users the medians are still close — local is 11ms, Azure is 30ms. But look at RPS: Azure is handling 26.64 requests per second versus 19.17 locally. Azure is serving more total traffic even though individual fast requests look slightly slower on the median. The 95th percentile also widens — 750ms locally versus 1100ms on Azure, but Azure Container Apps scaled up replicas to absorb the load, which is exactly what it's designed to do.
At 1000 users, Azure starts degrading — 1.2 second median, and the 95th percentile hits 41 seconds. The container was hitting its limits at 3 replicas. But critically, only 16% of requests failed — and that was static asset loading, not the core app. Health checks and homepage had zero failures.
Local completely saturated — 73% failure rate, 4.1 second median for everything. The cloud deployment was meaningfully more resilient under extreme load.
The failure pattern in the failures column is important — those 15-17% failure numbers across all test runs are the same static assets endpoint. It's a Streamlit behavior, not an infrastructure problem."
💡 Tip: The 1000-user comparison is your strongest talking point — Azure degraded gracefully, local fell over. ~90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raw Locust screenshots for each test run — Azure on the left, local on the right.
At 10 users they're nearly identical. At 100 users you can already see the median response times diverging — 30ms on Azure versus 11ms locally (aggregated) — Azure is over 10 times faster once Container Apps scales up. At 1000 users the local run shows the app completely saturated — response times hitting the 4100ms cap across all request types and a 73% failure rate. Azure is struggling too at 1000 users but is maintaining the core app functionality.
These screenshots are the raw evidence behind the summary table on the previous slide."
💡 Tip: This slide is mostly visual — let the audience look at it. Just narrate the progression from top to bottom. ~45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 these are five extensions that would make this a production system.
The most relevant for a cloud course is automated model retraining. Azure Machine Learning pipelines can watch a storage container, trigger a retraining job when new data arrives, evaluate the new model against the current one, and redeploy automatically if performance improves. That's a fully cloud-native MLOps workflow.
Patient portal integration is the most practical near-term extension — since the prediction logic is fully encapsulated in the backend, any frontend could call it, including an existing Epic MyChart plugin.
HIPAA compliance would be required before any real clinical use — encrypted storage, audit logging, access controls. That's a significant engineering effort but architecturally the app is already pointing in the right direction with Docker and managed Azure infrastructure.
I won't go deep on all five — I just want to show the system has a realistic path to production."
💡 Tip: Lead with automated retraining — it's the strongest cloud-tied future consideration. ~60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 this project is a fully deployed cloud system. A patient can open the live URL right now, enter their health metrics, and receive a risk score backed by a trained Logistic Regression model, with a SHAP explanation showing exactly what's driving their result and personalized recommendations for what to do about it.
On the cloud side: containerized with Docker, deployed to Azure Container Apps, auto-scaling enabled, and load-tested at up to 1000 concurrent users — where Azure handled the load and local didn't.
I'm happy to take any questions."
💡 Tip: Close on the patient experience first, then the cloud summary. The live URL mention is a nice touch — it shows the thing actually exists and works right now. ~45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B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2920" y="1280160"/>
            <a:ext cx="1005840" cy="1005840"/>
          </a:xfrm>
          <a:prstGeom prst="rect">
            <a:avLst/>
          </a:prstGeom>
        </p:spPr>
      </p:pic>
      <p:sp>
        <p:nvSpPr>
          <p:cNvPr id="3" name="Text 0"/>
          <p:cNvSpPr/>
          <p:nvPr/>
        </p:nvSpPr>
        <p:spPr>
          <a:xfrm>
            <a:off x="1737360" y="1143000"/>
            <a:ext cx="7132320" cy="82296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Heart Disease Risk Analyzer</a:t>
            </a:r>
            <a:endParaRPr lang="en-US" sz="4000" dirty="0"/>
          </a:p>
        </p:txBody>
      </p:sp>
      <p:sp>
        <p:nvSpPr>
          <p:cNvPr id="4" name="Text 1"/>
          <p:cNvSpPr/>
          <p:nvPr/>
        </p:nvSpPr>
        <p:spPr>
          <a:xfrm>
            <a:off x="1737360" y="2011680"/>
            <a:ext cx="7132320" cy="411480"/>
          </a:xfrm>
          <a:prstGeom prst="rect">
            <a:avLst/>
          </a:prstGeom>
          <a:noFill/>
          <a:ln/>
        </p:spPr>
        <p:txBody>
          <a:bodyPr wrap="square" lIns="0" tIns="0" rIns="0" bIns="0" rtlCol="0" anchor="ctr"/>
          <a:lstStyle/>
          <a:p>
            <a:pPr marL="0" indent="0">
              <a:buNone/>
            </a:pPr>
            <a:r>
              <a:rPr lang="en-US" sz="1600" i="1" dirty="0">
                <a:solidFill>
                  <a:srgbClr val="F5C0C0"/>
                </a:solidFill>
                <a:latin typeface="Calibri" pitchFamily="34" charset="0"/>
                <a:ea typeface="Calibri" pitchFamily="34" charset="-122"/>
                <a:cs typeface="Calibri" pitchFamily="34" charset="-120"/>
              </a:rPr>
              <a:t>Cloud-Deployed ML System with SHAP Explainability</a:t>
            </a:r>
            <a:endParaRPr lang="en-US" sz="1600" dirty="0"/>
          </a:p>
        </p:txBody>
      </p:sp>
      <p:sp>
        <p:nvSpPr>
          <p:cNvPr id="5" name="Shape 2"/>
          <p:cNvSpPr/>
          <p:nvPr/>
        </p:nvSpPr>
        <p:spPr>
          <a:xfrm>
            <a:off x="1737360" y="2542032"/>
            <a:ext cx="7132320" cy="22860"/>
          </a:xfrm>
          <a:prstGeom prst="rect">
            <a:avLst/>
          </a:prstGeom>
          <a:solidFill>
            <a:srgbClr val="C08080"/>
          </a:solidFill>
          <a:ln w="12700">
            <a:solidFill>
              <a:srgbClr val="C08080"/>
            </a:solidFill>
            <a:prstDash val="solid"/>
          </a:ln>
        </p:spPr>
        <p:txBody>
          <a:bodyPr/>
          <a:lstStyle/>
          <a:p>
            <a:endParaRPr lang="en-US"/>
          </a:p>
        </p:txBody>
      </p:sp>
      <p:sp>
        <p:nvSpPr>
          <p:cNvPr id="6" name="Text 3"/>
          <p:cNvSpPr/>
          <p:nvPr/>
        </p:nvSpPr>
        <p:spPr>
          <a:xfrm>
            <a:off x="1737360" y="2633472"/>
            <a:ext cx="7132320" cy="640080"/>
          </a:xfrm>
          <a:prstGeom prst="rect">
            <a:avLst/>
          </a:prstGeom>
          <a:noFill/>
          <a:ln/>
        </p:spPr>
        <p:txBody>
          <a:bodyPr wrap="square" rtlCol="0" anchor="ctr"/>
          <a:lstStyle/>
          <a:p>
            <a:pPr marL="0" indent="0">
              <a:buNone/>
            </a:pPr>
            <a:r>
              <a:rPr lang="en-US" sz="1100" dirty="0">
                <a:solidFill>
                  <a:srgbClr val="E8C0C0"/>
                </a:solidFill>
                <a:latin typeface="Calibri" pitchFamily="34" charset="0"/>
                <a:ea typeface="Calibri" pitchFamily="34" charset="-122"/>
                <a:cs typeface="Calibri" pitchFamily="34" charset="-120"/>
              </a:rPr>
              <a:t>Cloud Computing  ·  Spring 2026  ·  Individual Project</a:t>
            </a:r>
            <a:endParaRPr lang="en-US" sz="1100" dirty="0"/>
          </a:p>
          <a:p>
            <a:pPr marL="0" indent="0">
              <a:buNone/>
            </a:pPr>
            <a:r>
              <a:rPr lang="en-US" sz="1100" dirty="0">
                <a:solidFill>
                  <a:srgbClr val="E8C0C0"/>
                </a:solidFill>
                <a:latin typeface="Calibri" pitchFamily="34" charset="0"/>
                <a:ea typeface="Calibri" pitchFamily="34" charset="-122"/>
                <a:cs typeface="Calibri" pitchFamily="34" charset="-120"/>
              </a:rPr>
              <a:t>Azure Container Apps  ·  Docker  ·  Logistic Regression  ·  SHAP</a:t>
            </a:r>
            <a:endParaRPr lang="en-US" sz="1100" dirty="0"/>
          </a:p>
        </p:txBody>
      </p:sp>
      <p:sp>
        <p:nvSpPr>
          <p:cNvPr id="7" name="Text 4"/>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C08080"/>
                </a:solidFill>
                <a:latin typeface="Calibri" pitchFamily="34" charset="0"/>
                <a:ea typeface="Calibri" pitchFamily="34" charset="-122"/>
                <a:cs typeface="Calibri"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2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The Problem</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Why does a heart disease risk tool need to exist?</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2011680" cy="1737360"/>
          </a:xfrm>
          <a:prstGeom prst="rect">
            <a:avLst/>
          </a:prstGeom>
          <a:solidFill>
            <a:srgbClr val="8B0000"/>
          </a:solidFill>
          <a:ln w="12700">
            <a:solidFill>
              <a:srgbClr val="8B0000"/>
            </a:solidFill>
            <a:prstDash val="solid"/>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347472" y="1143000"/>
            <a:ext cx="2011680" cy="777240"/>
          </a:xfrm>
          <a:prstGeom prst="rect">
            <a:avLst/>
          </a:prstGeom>
          <a:noFill/>
          <a:ln/>
        </p:spPr>
        <p:txBody>
          <a:bodyPr wrap="square"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#1</a:t>
            </a:r>
            <a:endParaRPr lang="en-US" sz="5600" dirty="0"/>
          </a:p>
        </p:txBody>
      </p:sp>
      <p:sp>
        <p:nvSpPr>
          <p:cNvPr id="9" name="Text 7"/>
          <p:cNvSpPr/>
          <p:nvPr/>
        </p:nvSpPr>
        <p:spPr>
          <a:xfrm>
            <a:off x="347472" y="1920240"/>
            <a:ext cx="2011680" cy="685800"/>
          </a:xfrm>
          <a:prstGeom prst="rect">
            <a:avLst/>
          </a:prstGeom>
          <a:noFill/>
          <a:ln/>
        </p:spPr>
        <p:txBody>
          <a:bodyPr wrap="square" rtlCol="0" anchor="ctr"/>
          <a:lstStyle/>
          <a:p>
            <a:pPr marL="0" indent="0" algn="ctr">
              <a:buNone/>
            </a:pPr>
            <a:r>
              <a:rPr lang="en-US" sz="1000" dirty="0">
                <a:solidFill>
                  <a:srgbClr val="F5C0C0"/>
                </a:solidFill>
                <a:latin typeface="Calibri" pitchFamily="34" charset="0"/>
                <a:ea typeface="Calibri" pitchFamily="34" charset="-122"/>
                <a:cs typeface="Calibri" pitchFamily="34" charset="-120"/>
              </a:rPr>
              <a:t>cause of death</a:t>
            </a:r>
            <a:endParaRPr lang="en-US" sz="1000" dirty="0"/>
          </a:p>
          <a:p>
            <a:pPr marL="0" indent="0" algn="ctr">
              <a:buNone/>
            </a:pPr>
            <a:r>
              <a:rPr lang="en-US" sz="1000" dirty="0">
                <a:solidFill>
                  <a:srgbClr val="F5C0C0"/>
                </a:solidFill>
                <a:latin typeface="Calibri" pitchFamily="34" charset="0"/>
                <a:ea typeface="Calibri" pitchFamily="34" charset="-122"/>
                <a:cs typeface="Calibri" pitchFamily="34" charset="-120"/>
              </a:rPr>
              <a:t>in the United States</a:t>
            </a:r>
            <a:endParaRPr lang="en-US" sz="1000" dirty="0"/>
          </a:p>
        </p:txBody>
      </p:sp>
      <p:sp>
        <p:nvSpPr>
          <p:cNvPr id="10" name="Shape 8"/>
          <p:cNvSpPr/>
          <p:nvPr/>
        </p:nvSpPr>
        <p:spPr>
          <a:xfrm>
            <a:off x="2578608" y="1051560"/>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1" name="Shape 9"/>
          <p:cNvSpPr/>
          <p:nvPr/>
        </p:nvSpPr>
        <p:spPr>
          <a:xfrm>
            <a:off x="2578608" y="1051560"/>
            <a:ext cx="64008" cy="1024128"/>
          </a:xfrm>
          <a:prstGeom prst="rect">
            <a:avLst/>
          </a:prstGeom>
          <a:solidFill>
            <a:srgbClr val="B85C00"/>
          </a:solidFill>
          <a:ln w="12700">
            <a:solidFill>
              <a:srgbClr val="B85C00"/>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2724912" y="1170432"/>
            <a:ext cx="292608" cy="292608"/>
          </a:xfrm>
          <a:prstGeom prst="rect">
            <a:avLst/>
          </a:prstGeom>
        </p:spPr>
      </p:pic>
      <p:sp>
        <p:nvSpPr>
          <p:cNvPr id="13" name="Text 10"/>
          <p:cNvSpPr/>
          <p:nvPr/>
        </p:nvSpPr>
        <p:spPr>
          <a:xfrm>
            <a:off x="3127248" y="1124712"/>
            <a:ext cx="5596128" cy="274320"/>
          </a:xfrm>
          <a:prstGeom prst="rect">
            <a:avLst/>
          </a:prstGeom>
          <a:noFill/>
          <a:ln/>
        </p:spPr>
        <p:txBody>
          <a:bodyPr wrap="square" lIns="0" tIns="0" rIns="0" bIns="0" rtlCol="0" anchor="ctr"/>
          <a:lstStyle/>
          <a:p>
            <a:pPr marL="0" indent="0">
              <a:buNone/>
            </a:pPr>
            <a:r>
              <a:rPr lang="en-US" sz="1100" b="1" dirty="0">
                <a:solidFill>
                  <a:srgbClr val="B85C00"/>
                </a:solidFill>
                <a:latin typeface="Calibri" pitchFamily="34" charset="0"/>
                <a:ea typeface="Calibri" pitchFamily="34" charset="-122"/>
                <a:cs typeface="Calibri" pitchFamily="34" charset="-120"/>
              </a:rPr>
              <a:t>Late Detection</a:t>
            </a:r>
            <a:endParaRPr lang="en-US" sz="1100" dirty="0"/>
          </a:p>
        </p:txBody>
      </p:sp>
      <p:sp>
        <p:nvSpPr>
          <p:cNvPr id="14" name="Text 11"/>
          <p:cNvSpPr/>
          <p:nvPr/>
        </p:nvSpPr>
        <p:spPr>
          <a:xfrm>
            <a:off x="3127248" y="1435608"/>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Most people have no idea of their risk until they show symptoms — often a heart attack or stroke. Prevention is the best treatment, but it requires knowing your risk in advance.</a:t>
            </a:r>
            <a:endParaRPr lang="en-US" sz="950" dirty="0"/>
          </a:p>
        </p:txBody>
      </p:sp>
      <p:sp>
        <p:nvSpPr>
          <p:cNvPr id="15" name="Shape 12"/>
          <p:cNvSpPr/>
          <p:nvPr/>
        </p:nvSpPr>
        <p:spPr>
          <a:xfrm>
            <a:off x="2578608" y="2221992"/>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6" name="Shape 13"/>
          <p:cNvSpPr/>
          <p:nvPr/>
        </p:nvSpPr>
        <p:spPr>
          <a:xfrm>
            <a:off x="2578608" y="2221992"/>
            <a:ext cx="64008" cy="1024128"/>
          </a:xfrm>
          <a:prstGeom prst="rect">
            <a:avLst/>
          </a:prstGeom>
          <a:solidFill>
            <a:srgbClr val="8B0000"/>
          </a:solidFill>
          <a:ln w="12700">
            <a:solidFill>
              <a:srgbClr val="8B000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2724912" y="2340864"/>
            <a:ext cx="292608" cy="292608"/>
          </a:xfrm>
          <a:prstGeom prst="rect">
            <a:avLst/>
          </a:prstGeom>
        </p:spPr>
      </p:pic>
      <p:sp>
        <p:nvSpPr>
          <p:cNvPr id="18" name="Text 14"/>
          <p:cNvSpPr/>
          <p:nvPr/>
        </p:nvSpPr>
        <p:spPr>
          <a:xfrm>
            <a:off x="3127248" y="2295144"/>
            <a:ext cx="5596128"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No Explainability</a:t>
            </a:r>
            <a:endParaRPr lang="en-US" sz="1100" dirty="0"/>
          </a:p>
        </p:txBody>
      </p:sp>
      <p:sp>
        <p:nvSpPr>
          <p:cNvPr id="19" name="Text 15"/>
          <p:cNvSpPr/>
          <p:nvPr/>
        </p:nvSpPr>
        <p:spPr>
          <a:xfrm>
            <a:off x="3127248" y="2606040"/>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The few risk tools that exist give a single number with no explanation. You get a percentage and nothing else — no insight into what's driving it or what you can do.</a:t>
            </a:r>
            <a:endParaRPr lang="en-US" sz="950" dirty="0"/>
          </a:p>
        </p:txBody>
      </p:sp>
      <p:sp>
        <p:nvSpPr>
          <p:cNvPr id="20" name="Shape 16"/>
          <p:cNvSpPr/>
          <p:nvPr/>
        </p:nvSpPr>
        <p:spPr>
          <a:xfrm>
            <a:off x="2578608" y="3392424"/>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1" name="Shape 17"/>
          <p:cNvSpPr/>
          <p:nvPr/>
        </p:nvSpPr>
        <p:spPr>
          <a:xfrm>
            <a:off x="2578608" y="3392424"/>
            <a:ext cx="64008" cy="1024128"/>
          </a:xfrm>
          <a:prstGeom prst="rect">
            <a:avLst/>
          </a:prstGeom>
          <a:solidFill>
            <a:srgbClr val="1A4A8B"/>
          </a:solidFill>
          <a:ln w="12700">
            <a:solidFill>
              <a:srgbClr val="1A4A8B"/>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2724912" y="3511296"/>
            <a:ext cx="292608" cy="292608"/>
          </a:xfrm>
          <a:prstGeom prst="rect">
            <a:avLst/>
          </a:prstGeom>
        </p:spPr>
      </p:pic>
      <p:sp>
        <p:nvSpPr>
          <p:cNvPr id="23" name="Text 18"/>
          <p:cNvSpPr/>
          <p:nvPr/>
        </p:nvSpPr>
        <p:spPr>
          <a:xfrm>
            <a:off x="3127248" y="3465576"/>
            <a:ext cx="5596128"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Not Accessible</a:t>
            </a:r>
            <a:endParaRPr lang="en-US" sz="1100" dirty="0"/>
          </a:p>
        </p:txBody>
      </p:sp>
      <p:sp>
        <p:nvSpPr>
          <p:cNvPr id="24" name="Text 19"/>
          <p:cNvSpPr/>
          <p:nvPr/>
        </p:nvSpPr>
        <p:spPr>
          <a:xfrm>
            <a:off x="3127248" y="3776472"/>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Risk tools are clinical-facing — designed for doctors, not patients. There's no patient-facing, always-available tool that puts risk information directly in a person's hands.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3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Solution &amp; Goals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A containerized ML microservice deployed on Azure, with SHAP explainability and load testing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508760"/>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Model Comparison</a:t>
            </a:r>
            <a:endParaRPr lang="en-US" sz="1100" dirty="0"/>
          </a:p>
        </p:txBody>
      </p:sp>
      <p:sp>
        <p:nvSpPr>
          <p:cNvPr id="11" name="Text 8"/>
          <p:cNvSpPr/>
          <p:nvPr/>
        </p:nvSpPr>
        <p:spPr>
          <a:xfrm>
            <a:off x="896112" y="143560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Train Logistic Regression, Random Forest, and Gradient Boosting — select best by AUC-ROC via 5-fold cross-validation</a:t>
            </a:r>
            <a:endParaRPr lang="en-US" sz="950" dirty="0"/>
          </a:p>
        </p:txBody>
      </p:sp>
      <p:sp>
        <p:nvSpPr>
          <p:cNvPr id="12" name="Shape 9"/>
          <p:cNvSpPr/>
          <p:nvPr/>
        </p:nvSpPr>
        <p:spPr>
          <a:xfrm>
            <a:off x="4681728" y="105156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4681728" y="1051560"/>
            <a:ext cx="64008" cy="1508760"/>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28032" y="1170432"/>
            <a:ext cx="292608" cy="292608"/>
          </a:xfrm>
          <a:prstGeom prst="rect">
            <a:avLst/>
          </a:prstGeom>
        </p:spPr>
      </p:pic>
      <p:sp>
        <p:nvSpPr>
          <p:cNvPr id="15" name="Text 11"/>
          <p:cNvSpPr/>
          <p:nvPr/>
        </p:nvSpPr>
        <p:spPr>
          <a:xfrm>
            <a:off x="5230368"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Risk Dashboard</a:t>
            </a:r>
            <a:endParaRPr lang="en-US" sz="1100" dirty="0"/>
          </a:p>
        </p:txBody>
      </p:sp>
      <p:sp>
        <p:nvSpPr>
          <p:cNvPr id="16" name="Text 12"/>
          <p:cNvSpPr/>
          <p:nvPr/>
        </p:nvSpPr>
        <p:spPr>
          <a:xfrm>
            <a:off x="5230368" y="143560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Interactive 0–100% gauge, stats vs. clinical thresholds, actionable SHAP chart, personalized recommendations</a:t>
            </a:r>
            <a:endParaRPr lang="en-US" sz="950" dirty="0"/>
          </a:p>
        </p:txBody>
      </p:sp>
      <p:sp>
        <p:nvSpPr>
          <p:cNvPr id="17" name="Shape 13"/>
          <p:cNvSpPr/>
          <p:nvPr/>
        </p:nvSpPr>
        <p:spPr>
          <a:xfrm>
            <a:off x="347472" y="274320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2743200"/>
            <a:ext cx="64008" cy="1508760"/>
          </a:xfrm>
          <a:prstGeom prst="rect">
            <a:avLst/>
          </a:prstGeom>
          <a:solidFill>
            <a:srgbClr val="8B0000"/>
          </a:solidFill>
          <a:ln w="12700">
            <a:solidFill>
              <a:srgbClr val="8B00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2862072"/>
            <a:ext cx="292608" cy="292608"/>
          </a:xfrm>
          <a:prstGeom prst="rect">
            <a:avLst/>
          </a:prstGeom>
        </p:spPr>
      </p:pic>
      <p:sp>
        <p:nvSpPr>
          <p:cNvPr id="20" name="Text 15"/>
          <p:cNvSpPr/>
          <p:nvPr/>
        </p:nvSpPr>
        <p:spPr>
          <a:xfrm>
            <a:off x="896112" y="281635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SHAP Explainability</a:t>
            </a:r>
            <a:endParaRPr lang="en-US" sz="1100" dirty="0"/>
          </a:p>
        </p:txBody>
      </p:sp>
      <p:sp>
        <p:nvSpPr>
          <p:cNvPr id="21" name="Text 16"/>
          <p:cNvSpPr/>
          <p:nvPr/>
        </p:nvSpPr>
        <p:spPr>
          <a:xfrm>
            <a:off x="896112" y="312724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SHAP — SHapley Additive exPlanations (pronounced 'shap') — shows which health metrics are driving risk, positive or negative</a:t>
            </a:r>
            <a:endParaRPr lang="en-US" sz="950" dirty="0"/>
          </a:p>
        </p:txBody>
      </p:sp>
      <p:sp>
        <p:nvSpPr>
          <p:cNvPr id="22" name="Shape 17"/>
          <p:cNvSpPr/>
          <p:nvPr/>
        </p:nvSpPr>
        <p:spPr>
          <a:xfrm>
            <a:off x="4681728" y="274320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3" name="Shape 18"/>
          <p:cNvSpPr/>
          <p:nvPr/>
        </p:nvSpPr>
        <p:spPr>
          <a:xfrm>
            <a:off x="4681728" y="2743200"/>
            <a:ext cx="64008" cy="1508760"/>
          </a:xfrm>
          <a:prstGeom prst="rect">
            <a:avLst/>
          </a:prstGeom>
          <a:solidFill>
            <a:srgbClr val="8B0000"/>
          </a:solidFill>
          <a:ln w="12700">
            <a:solidFill>
              <a:srgbClr val="8B000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28032" y="2862072"/>
            <a:ext cx="292608" cy="292608"/>
          </a:xfrm>
          <a:prstGeom prst="rect">
            <a:avLst/>
          </a:prstGeom>
        </p:spPr>
      </p:pic>
      <p:sp>
        <p:nvSpPr>
          <p:cNvPr id="25" name="Text 19"/>
          <p:cNvSpPr/>
          <p:nvPr/>
        </p:nvSpPr>
        <p:spPr>
          <a:xfrm>
            <a:off x="5230368" y="281635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Cloud Deployment</a:t>
            </a:r>
            <a:endParaRPr lang="en-US" sz="1100" dirty="0"/>
          </a:p>
        </p:txBody>
      </p:sp>
      <p:sp>
        <p:nvSpPr>
          <p:cNvPr id="26" name="Text 20"/>
          <p:cNvSpPr/>
          <p:nvPr/>
        </p:nvSpPr>
        <p:spPr>
          <a:xfrm>
            <a:off x="5230368" y="312724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Docker container on Azure Container Apps · auto-scales 0–3 replicas · Locust load tested at 10, 100, and 1000 concurrent users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4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Dataset &amp; ML Methodology</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UCI Heart Disease (Cleveland subset) · 297 patients after cleaning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2834640" cy="384048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2834640" cy="347472"/>
          </a:xfrm>
          <a:prstGeom prst="rect">
            <a:avLst/>
          </a:prstGeom>
          <a:solidFill>
            <a:srgbClr val="8B0000"/>
          </a:solidFill>
          <a:ln w="12700">
            <a:solidFill>
              <a:srgbClr val="8B0000"/>
            </a:solidFill>
            <a:prstDash val="solid"/>
          </a:ln>
        </p:spPr>
        <p:txBody>
          <a:bodyPr/>
          <a:lstStyle/>
          <a:p>
            <a:endParaRPr lang="en-US"/>
          </a:p>
        </p:txBody>
      </p:sp>
      <p:sp>
        <p:nvSpPr>
          <p:cNvPr id="9" name="Text 7"/>
          <p:cNvSpPr/>
          <p:nvPr/>
        </p:nvSpPr>
        <p:spPr>
          <a:xfrm>
            <a:off x="457200" y="107899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p>
        </p:txBody>
      </p:sp>
      <p:sp>
        <p:nvSpPr>
          <p:cNvPr id="10" name="Text 8"/>
          <p:cNvSpPr/>
          <p:nvPr/>
        </p:nvSpPr>
        <p:spPr>
          <a:xfrm>
            <a:off x="457200" y="1508760"/>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Source:</a:t>
            </a:r>
            <a:endParaRPr lang="en-US" sz="950" dirty="0"/>
          </a:p>
        </p:txBody>
      </p:sp>
      <p:sp>
        <p:nvSpPr>
          <p:cNvPr id="11" name="Text 9"/>
          <p:cNvSpPr/>
          <p:nvPr/>
        </p:nvSpPr>
        <p:spPr>
          <a:xfrm>
            <a:off x="1481328" y="1508760"/>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UCI Heart Disease (Cleveland)</a:t>
            </a:r>
            <a:endParaRPr lang="en-US" sz="950" dirty="0"/>
          </a:p>
        </p:txBody>
      </p:sp>
      <p:sp>
        <p:nvSpPr>
          <p:cNvPr id="12" name="Text 10"/>
          <p:cNvSpPr/>
          <p:nvPr/>
        </p:nvSpPr>
        <p:spPr>
          <a:xfrm>
            <a:off x="457200" y="1938528"/>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Rows:</a:t>
            </a:r>
            <a:endParaRPr lang="en-US" sz="950" dirty="0"/>
          </a:p>
        </p:txBody>
      </p:sp>
      <p:sp>
        <p:nvSpPr>
          <p:cNvPr id="13" name="Text 11"/>
          <p:cNvSpPr/>
          <p:nvPr/>
        </p:nvSpPr>
        <p:spPr>
          <a:xfrm>
            <a:off x="1481328" y="1938528"/>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920 total · 297 after cleaning</a:t>
            </a:r>
            <a:endParaRPr lang="en-US" sz="950" dirty="0"/>
          </a:p>
        </p:txBody>
      </p:sp>
      <p:sp>
        <p:nvSpPr>
          <p:cNvPr id="14" name="Text 12"/>
          <p:cNvSpPr/>
          <p:nvPr/>
        </p:nvSpPr>
        <p:spPr>
          <a:xfrm>
            <a:off x="457200" y="2368296"/>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Disease prev.:</a:t>
            </a:r>
            <a:endParaRPr lang="en-US" sz="950" dirty="0"/>
          </a:p>
        </p:txBody>
      </p:sp>
      <p:sp>
        <p:nvSpPr>
          <p:cNvPr id="15" name="Text 13"/>
          <p:cNvSpPr/>
          <p:nvPr/>
        </p:nvSpPr>
        <p:spPr>
          <a:xfrm>
            <a:off x="1481328" y="2368296"/>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46.1% (137/297) — balanced</a:t>
            </a:r>
            <a:endParaRPr lang="en-US" sz="950" dirty="0"/>
          </a:p>
        </p:txBody>
      </p:sp>
      <p:sp>
        <p:nvSpPr>
          <p:cNvPr id="16" name="Text 14"/>
          <p:cNvSpPr/>
          <p:nvPr/>
        </p:nvSpPr>
        <p:spPr>
          <a:xfrm>
            <a:off x="457200" y="2798064"/>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Features:</a:t>
            </a:r>
            <a:endParaRPr lang="en-US" sz="950" dirty="0"/>
          </a:p>
        </p:txBody>
      </p:sp>
      <p:sp>
        <p:nvSpPr>
          <p:cNvPr id="17" name="Text 15"/>
          <p:cNvSpPr/>
          <p:nvPr/>
        </p:nvSpPr>
        <p:spPr>
          <a:xfrm>
            <a:off x="1481328" y="2798064"/>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21 after one-hot encoding</a:t>
            </a:r>
            <a:endParaRPr lang="en-US" sz="950" dirty="0"/>
          </a:p>
        </p:txBody>
      </p:sp>
      <p:sp>
        <p:nvSpPr>
          <p:cNvPr id="18" name="Text 16"/>
          <p:cNvSpPr/>
          <p:nvPr/>
        </p:nvSpPr>
        <p:spPr>
          <a:xfrm>
            <a:off x="457200" y="3227832"/>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Preprocessing:</a:t>
            </a:r>
            <a:endParaRPr lang="en-US" sz="950" dirty="0"/>
          </a:p>
        </p:txBody>
      </p:sp>
      <p:sp>
        <p:nvSpPr>
          <p:cNvPr id="19" name="Text 17"/>
          <p:cNvSpPr/>
          <p:nvPr/>
        </p:nvSpPr>
        <p:spPr>
          <a:xfrm>
            <a:off x="1481328" y="3227832"/>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StandardScaler on numerics</a:t>
            </a:r>
            <a:endParaRPr lang="en-US" sz="950" dirty="0"/>
          </a:p>
        </p:txBody>
      </p:sp>
      <p:sp>
        <p:nvSpPr>
          <p:cNvPr id="20" name="Text 18"/>
          <p:cNvSpPr/>
          <p:nvPr/>
        </p:nvSpPr>
        <p:spPr>
          <a:xfrm>
            <a:off x="457200" y="3657600"/>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Age groups:</a:t>
            </a:r>
            <a:endParaRPr lang="en-US" sz="950" dirty="0"/>
          </a:p>
        </p:txBody>
      </p:sp>
      <p:sp>
        <p:nvSpPr>
          <p:cNvPr id="21" name="Text 19"/>
          <p:cNvSpPr/>
          <p:nvPr/>
        </p:nvSpPr>
        <p:spPr>
          <a:xfrm>
            <a:off x="1481328" y="3657600"/>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Created medical brackets</a:t>
            </a:r>
            <a:endParaRPr lang="en-US" sz="950" dirty="0"/>
          </a:p>
        </p:txBody>
      </p:sp>
      <p:sp>
        <p:nvSpPr>
          <p:cNvPr id="22" name="Text 20"/>
          <p:cNvSpPr/>
          <p:nvPr/>
        </p:nvSpPr>
        <p:spPr>
          <a:xfrm>
            <a:off x="457200" y="4087368"/>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Target:</a:t>
            </a:r>
            <a:endParaRPr lang="en-US" sz="950" dirty="0"/>
          </a:p>
        </p:txBody>
      </p:sp>
      <p:sp>
        <p:nvSpPr>
          <p:cNvPr id="23" name="Text 21"/>
          <p:cNvSpPr/>
          <p:nvPr/>
        </p:nvSpPr>
        <p:spPr>
          <a:xfrm>
            <a:off x="1481328" y="4087368"/>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Binary: disease present / absent</a:t>
            </a:r>
            <a:endParaRPr lang="en-US" sz="950" dirty="0"/>
          </a:p>
        </p:txBody>
      </p:sp>
      <p:sp>
        <p:nvSpPr>
          <p:cNvPr id="24" name="Shape 22"/>
          <p:cNvSpPr/>
          <p:nvPr/>
        </p:nvSpPr>
        <p:spPr>
          <a:xfrm>
            <a:off x="3401568" y="1051560"/>
            <a:ext cx="5394960" cy="384048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5" name="Shape 23"/>
          <p:cNvSpPr/>
          <p:nvPr/>
        </p:nvSpPr>
        <p:spPr>
          <a:xfrm>
            <a:off x="3401568" y="1051560"/>
            <a:ext cx="5394960" cy="347472"/>
          </a:xfrm>
          <a:prstGeom prst="rect">
            <a:avLst/>
          </a:prstGeom>
          <a:solidFill>
            <a:srgbClr val="8B0000"/>
          </a:solidFill>
          <a:ln w="12700">
            <a:solidFill>
              <a:srgbClr val="8B0000"/>
            </a:solidFill>
            <a:prstDash val="solid"/>
          </a:ln>
        </p:spPr>
        <p:txBody>
          <a:bodyPr/>
          <a:lstStyle/>
          <a:p>
            <a:endParaRPr lang="en-US"/>
          </a:p>
        </p:txBody>
      </p:sp>
      <p:sp>
        <p:nvSpPr>
          <p:cNvPr id="26" name="Text 24"/>
          <p:cNvSpPr/>
          <p:nvPr/>
        </p:nvSpPr>
        <p:spPr>
          <a:xfrm>
            <a:off x="3511296" y="1078992"/>
            <a:ext cx="517550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 Results (5-Fold CV · Test Set)</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511296" y="1481328"/>
          <a:ext cx="5266944" cy="1280160"/>
        </p:xfrm>
        <a:graphic>
          <a:graphicData uri="http://schemas.openxmlformats.org/drawingml/2006/table">
            <a:tbl>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tblGrid>
              <a:tr h="320040">
                <a:tc>
                  <a:txBody>
                    <a:bodyPr/>
                    <a:lstStyle/>
                    <a:p>
                      <a:pPr marL="0" indent="0">
                        <a:buNone/>
                      </a:pPr>
                      <a:r>
                        <a:rPr lang="en-US" sz="1000" b="1" dirty="0">
                          <a:solidFill>
                            <a:srgbClr val="8B0000"/>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Base AUC</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Tuned AUC</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Selected?</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0.9520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0.9475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86.7%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 Prediction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0.9397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0.9453</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85.0%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A4A8B"/>
                          </a:solidFill>
                          <a:latin typeface="Calibri" pitchFamily="34" charset="0"/>
                          <a:ea typeface="Calibri" pitchFamily="34" charset="-122"/>
                          <a:cs typeface="Calibri" pitchFamily="34" charset="-120"/>
                        </a:rPr>
                        <a:t>✓ SHAP only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Gradient Boosting</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0.9085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86.7%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8" name="Shape 25"/>
          <p:cNvSpPr/>
          <p:nvPr/>
        </p:nvSpPr>
        <p:spPr>
          <a:xfrm>
            <a:off x="3511296" y="2971800"/>
            <a:ext cx="5175504" cy="22860"/>
          </a:xfrm>
          <a:prstGeom prst="rect">
            <a:avLst/>
          </a:prstGeom>
          <a:solidFill>
            <a:srgbClr val="D4A0A0"/>
          </a:solidFill>
          <a:ln w="12700">
            <a:solidFill>
              <a:srgbClr val="D4A0A0"/>
            </a:solidFill>
            <a:prstDash val="solid"/>
          </a:ln>
        </p:spPr>
        <p:txBody>
          <a:bodyPr/>
          <a:lstStyle/>
          <a:p>
            <a:endParaRPr lang="en-US"/>
          </a:p>
        </p:txBody>
      </p:sp>
      <p:sp>
        <p:nvSpPr>
          <p:cNvPr id="29" name="Text 26"/>
          <p:cNvSpPr/>
          <p:nvPr/>
        </p:nvSpPr>
        <p:spPr>
          <a:xfrm>
            <a:off x="3511296" y="3035808"/>
            <a:ext cx="5175504" cy="256032"/>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Why Logistic Regression was selected for prediction:</a:t>
            </a:r>
            <a:endParaRPr lang="en-US" sz="1000" dirty="0"/>
          </a:p>
        </p:txBody>
      </p:sp>
      <p:sp>
        <p:nvSpPr>
          <p:cNvPr id="30" name="Text 27"/>
          <p:cNvSpPr/>
          <p:nvPr/>
        </p:nvSpPr>
        <p:spPr>
          <a:xfrm>
            <a:off x="3511296" y="3337560"/>
            <a:ext cx="5175504" cy="1463040"/>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Highest tuned AUC-ROC (0.9475) — best at distinguishing disease vs. no disease</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Strong precision (88%) and recall (82%) on the disease class</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Random Forest retained separately as SHAP model — TreeExplainer requires a tree-based model</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Class distribution was 46/54 — no SMOTE needed, confirmed by evaluation metrics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5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Dashboard — Risk Score &amp; Vitals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Patient-facing Streamlit dashboard — low risk patient example (27%)</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pic>
        <p:nvPicPr>
          <p:cNvPr id="7" name="Image 0" descr="/mnt/user-data/uploads/dashboard1.png"/>
          <p:cNvPicPr>
            <a:picLocks noChangeAspect="1"/>
          </p:cNvPicPr>
          <p:nvPr/>
        </p:nvPicPr>
        <p:blipFill>
          <a:blip r:embed="rId3"/>
          <a:srcRect/>
          <a:stretch/>
        </p:blipFill>
        <p:spPr>
          <a:xfrm>
            <a:off x="347472" y="1051560"/>
            <a:ext cx="8449056" cy="3566160"/>
          </a:xfrm>
          <a:prstGeom prst="rect">
            <a:avLst/>
          </a:prstGeom>
        </p:spPr>
      </p:pic>
      <p:sp>
        <p:nvSpPr>
          <p:cNvPr id="8" name="Shape 5"/>
          <p:cNvSpPr/>
          <p:nvPr/>
        </p:nvSpPr>
        <p:spPr>
          <a:xfrm>
            <a:off x="347472" y="4645152"/>
            <a:ext cx="8449056" cy="274320"/>
          </a:xfrm>
          <a:prstGeom prst="rect">
            <a:avLst/>
          </a:prstGeom>
          <a:solidFill>
            <a:srgbClr val="F0E0E0"/>
          </a:solidFill>
          <a:ln w="12700">
            <a:solidFill>
              <a:srgbClr val="D4A0A0"/>
            </a:solidFill>
            <a:prstDash val="solid"/>
          </a:ln>
        </p:spPr>
        <p:txBody>
          <a:bodyPr/>
          <a:lstStyle/>
          <a:p>
            <a:endParaRPr lang="en-US"/>
          </a:p>
        </p:txBody>
      </p:sp>
      <p:sp>
        <p:nvSpPr>
          <p:cNvPr id="9" name="Text 6"/>
          <p:cNvSpPr/>
          <p:nvPr/>
        </p:nvSpPr>
        <p:spPr>
          <a:xfrm>
            <a:off x="457200" y="4663440"/>
            <a:ext cx="8229600" cy="228600"/>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Sidebar collects 11 patient inputs → API returns risk score + SHAP values as JSON → Streamlit renders gauge, threshold comparisons, and recommendations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6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Dashboard — SHAP Chart &amp; Recommendations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Moderate risk patient (56%) — actionable factors only</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pic>
        <p:nvPicPr>
          <p:cNvPr id="7" name="Image 0" descr="/mnt/user-data/uploads/dashboard3.png"/>
          <p:cNvPicPr>
            <a:picLocks noChangeAspect="1"/>
          </p:cNvPicPr>
          <p:nvPr/>
        </p:nvPicPr>
        <p:blipFill>
          <a:blip r:embed="rId3"/>
          <a:srcRect/>
          <a:stretch/>
        </p:blipFill>
        <p:spPr>
          <a:xfrm>
            <a:off x="347472" y="1051560"/>
            <a:ext cx="4160520" cy="3383280"/>
          </a:xfrm>
          <a:prstGeom prst="rect">
            <a:avLst/>
          </a:prstGeom>
        </p:spPr>
      </p:pic>
      <p:pic>
        <p:nvPicPr>
          <p:cNvPr id="8" name="Image 1" descr="/mnt/user-data/uploads/dashboard4.png"/>
          <p:cNvPicPr>
            <a:picLocks noChangeAspect="1"/>
          </p:cNvPicPr>
          <p:nvPr/>
        </p:nvPicPr>
        <p:blipFill>
          <a:blip r:embed="rId4"/>
          <a:srcRect/>
          <a:stretch/>
        </p:blipFill>
        <p:spPr>
          <a:xfrm>
            <a:off x="4636008" y="1051560"/>
            <a:ext cx="4160520" cy="3383280"/>
          </a:xfrm>
          <a:prstGeom prst="rect">
            <a:avLst/>
          </a:prstGeom>
        </p:spPr>
      </p:pic>
      <p:sp>
        <p:nvSpPr>
          <p:cNvPr id="9" name="Shape 5"/>
          <p:cNvSpPr/>
          <p:nvPr/>
        </p:nvSpPr>
        <p:spPr>
          <a:xfrm>
            <a:off x="347472" y="4507992"/>
            <a:ext cx="4160520" cy="320040"/>
          </a:xfrm>
          <a:prstGeom prst="rect">
            <a:avLst/>
          </a:prstGeom>
          <a:solidFill>
            <a:srgbClr val="F0E0E0"/>
          </a:solidFill>
          <a:ln w="12700">
            <a:solidFill>
              <a:srgbClr val="D4A0A0"/>
            </a:solidFill>
            <a:prstDash val="solid"/>
          </a:ln>
        </p:spPr>
        <p:txBody>
          <a:bodyPr/>
          <a:lstStyle/>
          <a:p>
            <a:endParaRPr lang="en-US"/>
          </a:p>
        </p:txBody>
      </p:sp>
      <p:sp>
        <p:nvSpPr>
          <p:cNvPr id="10" name="Text 6"/>
          <p:cNvSpPr/>
          <p:nvPr/>
        </p:nvSpPr>
        <p:spPr>
          <a:xfrm>
            <a:off x="457200" y="4535424"/>
            <a:ext cx="3931920" cy="256032"/>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Risk gauge — 56%, moderate risk</a:t>
            </a:r>
            <a:endParaRPr lang="en-US" sz="900" dirty="0"/>
          </a:p>
        </p:txBody>
      </p:sp>
      <p:sp>
        <p:nvSpPr>
          <p:cNvPr id="11" name="Shape 7"/>
          <p:cNvSpPr/>
          <p:nvPr/>
        </p:nvSpPr>
        <p:spPr>
          <a:xfrm>
            <a:off x="4636008" y="4507992"/>
            <a:ext cx="4160520" cy="320040"/>
          </a:xfrm>
          <a:prstGeom prst="rect">
            <a:avLst/>
          </a:prstGeom>
          <a:solidFill>
            <a:srgbClr val="F0E0E0"/>
          </a:solidFill>
          <a:ln w="12700">
            <a:solidFill>
              <a:srgbClr val="D4A0A0"/>
            </a:solidFill>
            <a:prstDash val="solid"/>
          </a:ln>
        </p:spPr>
        <p:txBody>
          <a:bodyPr/>
          <a:lstStyle/>
          <a:p>
            <a:endParaRPr lang="en-US"/>
          </a:p>
        </p:txBody>
      </p:sp>
      <p:sp>
        <p:nvSpPr>
          <p:cNvPr id="12" name="Text 8"/>
          <p:cNvSpPr/>
          <p:nvPr/>
        </p:nvSpPr>
        <p:spPr>
          <a:xfrm>
            <a:off x="4745736" y="4535424"/>
            <a:ext cx="3931920" cy="256032"/>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SHAP chart + personalized recommendations below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7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System Architecture</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Containerized Streamlit app · Docker · Azure Container Apps</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8" name="Shape 6"/>
          <p:cNvSpPr/>
          <p:nvPr/>
        </p:nvSpPr>
        <p:spPr>
          <a:xfrm>
            <a:off x="347472"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97280" y="1719072"/>
            <a:ext cx="292608" cy="292608"/>
          </a:xfrm>
          <a:prstGeom prst="rect">
            <a:avLst/>
          </a:prstGeom>
        </p:spPr>
      </p:pic>
      <p:sp>
        <p:nvSpPr>
          <p:cNvPr id="10" name="Text 7"/>
          <p:cNvSpPr/>
          <p:nvPr/>
        </p:nvSpPr>
        <p:spPr>
          <a:xfrm>
            <a:off x="393192"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Patient</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Browser</a:t>
            </a:r>
            <a:endParaRPr lang="en-US" sz="1100" dirty="0"/>
          </a:p>
        </p:txBody>
      </p:sp>
      <p:sp>
        <p:nvSpPr>
          <p:cNvPr id="11" name="Text 8"/>
          <p:cNvSpPr/>
          <p:nvPr/>
        </p:nvSpPr>
        <p:spPr>
          <a:xfrm>
            <a:off x="393192"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Inputs health</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metrics</a:t>
            </a:r>
            <a:endParaRPr lang="en-US" sz="850" dirty="0"/>
          </a:p>
        </p:txBody>
      </p:sp>
      <p:sp>
        <p:nvSpPr>
          <p:cNvPr id="12" name="Shape 9"/>
          <p:cNvSpPr/>
          <p:nvPr/>
        </p:nvSpPr>
        <p:spPr>
          <a:xfrm>
            <a:off x="2331720"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13" name="Shape 10"/>
          <p:cNvSpPr/>
          <p:nvPr/>
        </p:nvSpPr>
        <p:spPr>
          <a:xfrm>
            <a:off x="2331720"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081528" y="1719072"/>
            <a:ext cx="292608" cy="292608"/>
          </a:xfrm>
          <a:prstGeom prst="rect">
            <a:avLst/>
          </a:prstGeom>
        </p:spPr>
      </p:pic>
      <p:sp>
        <p:nvSpPr>
          <p:cNvPr id="15" name="Text 11"/>
          <p:cNvSpPr/>
          <p:nvPr/>
        </p:nvSpPr>
        <p:spPr>
          <a:xfrm>
            <a:off x="2377440"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Streamlit</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Frontend</a:t>
            </a:r>
            <a:endParaRPr lang="en-US" sz="1100" dirty="0"/>
          </a:p>
        </p:txBody>
      </p:sp>
      <p:sp>
        <p:nvSpPr>
          <p:cNvPr id="16" name="Text 12"/>
          <p:cNvSpPr/>
          <p:nvPr/>
        </p:nvSpPr>
        <p:spPr>
          <a:xfrm>
            <a:off x="2377440"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Renders UI</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&amp; results</a:t>
            </a:r>
            <a:endParaRPr lang="en-US" sz="850" dirty="0"/>
          </a:p>
        </p:txBody>
      </p:sp>
      <p:sp>
        <p:nvSpPr>
          <p:cNvPr id="17" name="Shape 13"/>
          <p:cNvSpPr/>
          <p:nvPr/>
        </p:nvSpPr>
        <p:spPr>
          <a:xfrm>
            <a:off x="4315968"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18" name="Shape 14"/>
          <p:cNvSpPr/>
          <p:nvPr/>
        </p:nvSpPr>
        <p:spPr>
          <a:xfrm>
            <a:off x="4315968"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5065776" y="1719072"/>
            <a:ext cx="292608" cy="292608"/>
          </a:xfrm>
          <a:prstGeom prst="rect">
            <a:avLst/>
          </a:prstGeom>
        </p:spPr>
      </p:pic>
      <p:sp>
        <p:nvSpPr>
          <p:cNvPr id="20" name="Text 15"/>
          <p:cNvSpPr/>
          <p:nvPr/>
        </p:nvSpPr>
        <p:spPr>
          <a:xfrm>
            <a:off x="4361688"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FastAPI</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Backend</a:t>
            </a:r>
            <a:endParaRPr lang="en-US" sz="1100" dirty="0"/>
          </a:p>
        </p:txBody>
      </p:sp>
      <p:sp>
        <p:nvSpPr>
          <p:cNvPr id="21" name="Text 16"/>
          <p:cNvSpPr/>
          <p:nvPr/>
        </p:nvSpPr>
        <p:spPr>
          <a:xfrm>
            <a:off x="4361688"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Runs model</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&amp; SHAP</a:t>
            </a:r>
            <a:endParaRPr lang="en-US" sz="850" dirty="0"/>
          </a:p>
        </p:txBody>
      </p:sp>
      <p:sp>
        <p:nvSpPr>
          <p:cNvPr id="22" name="Shape 17"/>
          <p:cNvSpPr/>
          <p:nvPr/>
        </p:nvSpPr>
        <p:spPr>
          <a:xfrm>
            <a:off x="6300216"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23" name="Shape 18"/>
          <p:cNvSpPr/>
          <p:nvPr/>
        </p:nvSpPr>
        <p:spPr>
          <a:xfrm>
            <a:off x="6300216"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050024" y="1719072"/>
            <a:ext cx="292608" cy="292608"/>
          </a:xfrm>
          <a:prstGeom prst="rect">
            <a:avLst/>
          </a:prstGeom>
        </p:spPr>
      </p:pic>
      <p:sp>
        <p:nvSpPr>
          <p:cNvPr id="25" name="Text 19"/>
          <p:cNvSpPr/>
          <p:nvPr/>
        </p:nvSpPr>
        <p:spPr>
          <a:xfrm>
            <a:off x="6345936"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Model</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Artifacts</a:t>
            </a:r>
            <a:endParaRPr lang="en-US" sz="1100" dirty="0"/>
          </a:p>
        </p:txBody>
      </p:sp>
      <p:sp>
        <p:nvSpPr>
          <p:cNvPr id="26" name="Text 20"/>
          <p:cNvSpPr/>
          <p:nvPr/>
        </p:nvSpPr>
        <p:spPr>
          <a:xfrm>
            <a:off x="6345936"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LR + RF pkl</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 scaler</a:t>
            </a:r>
            <a:endParaRPr lang="en-US" sz="850" dirty="0"/>
          </a:p>
        </p:txBody>
      </p:sp>
      <p:sp>
        <p:nvSpPr>
          <p:cNvPr id="27" name="Shape 21"/>
          <p:cNvSpPr/>
          <p:nvPr/>
        </p:nvSpPr>
        <p:spPr>
          <a:xfrm>
            <a:off x="6300216" y="320040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28" name="Shape 22"/>
          <p:cNvSpPr/>
          <p:nvPr/>
        </p:nvSpPr>
        <p:spPr>
          <a:xfrm>
            <a:off x="6300216" y="3200400"/>
            <a:ext cx="1783080" cy="36576"/>
          </a:xfrm>
          <a:prstGeom prst="rect">
            <a:avLst/>
          </a:prstGeom>
          <a:solidFill>
            <a:srgbClr val="8B0000"/>
          </a:solidFill>
          <a:ln w="12700">
            <a:solidFill>
              <a:srgbClr val="8B0000"/>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7050024" y="3273552"/>
            <a:ext cx="292608" cy="292608"/>
          </a:xfrm>
          <a:prstGeom prst="rect">
            <a:avLst/>
          </a:prstGeom>
        </p:spPr>
      </p:pic>
      <p:sp>
        <p:nvSpPr>
          <p:cNvPr id="30" name="Text 23"/>
          <p:cNvSpPr/>
          <p:nvPr/>
        </p:nvSpPr>
        <p:spPr>
          <a:xfrm>
            <a:off x="6345936" y="360273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Azure</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Container Apps</a:t>
            </a:r>
            <a:endParaRPr lang="en-US" sz="1100" dirty="0"/>
          </a:p>
        </p:txBody>
      </p:sp>
      <p:sp>
        <p:nvSpPr>
          <p:cNvPr id="31" name="Text 24"/>
          <p:cNvSpPr/>
          <p:nvPr/>
        </p:nvSpPr>
        <p:spPr>
          <a:xfrm>
            <a:off x="6345936" y="402336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Auto-scales</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0–3 replicas</a:t>
            </a:r>
            <a:endParaRPr lang="en-US" sz="850" dirty="0"/>
          </a:p>
        </p:txBody>
      </p:sp>
      <p:sp>
        <p:nvSpPr>
          <p:cNvPr id="32" name="Shape 25"/>
          <p:cNvSpPr/>
          <p:nvPr/>
        </p:nvSpPr>
        <p:spPr>
          <a:xfrm>
            <a:off x="2148840"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3" name="Text 26"/>
          <p:cNvSpPr/>
          <p:nvPr/>
        </p:nvSpPr>
        <p:spPr>
          <a:xfrm>
            <a:off x="2130552"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4" name="Shape 27"/>
          <p:cNvSpPr/>
          <p:nvPr/>
        </p:nvSpPr>
        <p:spPr>
          <a:xfrm>
            <a:off x="4133088"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5" name="Text 28"/>
          <p:cNvSpPr/>
          <p:nvPr/>
        </p:nvSpPr>
        <p:spPr>
          <a:xfrm>
            <a:off x="4114800"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6" name="Shape 29"/>
          <p:cNvSpPr/>
          <p:nvPr/>
        </p:nvSpPr>
        <p:spPr>
          <a:xfrm>
            <a:off x="6117336"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7" name="Text 30"/>
          <p:cNvSpPr/>
          <p:nvPr/>
        </p:nvSpPr>
        <p:spPr>
          <a:xfrm>
            <a:off x="6099048"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8" name="Shape 31"/>
          <p:cNvSpPr/>
          <p:nvPr/>
        </p:nvSpPr>
        <p:spPr>
          <a:xfrm>
            <a:off x="4315968" y="3200400"/>
            <a:ext cx="1783080" cy="1325880"/>
          </a:xfrm>
          <a:prstGeom prst="rect">
            <a:avLst/>
          </a:prstGeom>
          <a:solidFill>
            <a:srgbClr val="E8F4FF"/>
          </a:solidFill>
          <a:ln w="12700">
            <a:solidFill>
              <a:srgbClr val="4A90D9"/>
            </a:solidFill>
            <a:prstDash val="solid"/>
          </a:ln>
        </p:spPr>
        <p:txBody>
          <a:bodyPr/>
          <a:lstStyle/>
          <a:p>
            <a:endParaRPr lang="en-US"/>
          </a:p>
        </p:txBody>
      </p:sp>
      <p:pic>
        <p:nvPicPr>
          <p:cNvPr id="39" name="Image 5" descr="preencoded.png"/>
          <p:cNvPicPr>
            <a:picLocks noChangeAspect="1"/>
          </p:cNvPicPr>
          <p:nvPr/>
        </p:nvPicPr>
        <p:blipFill>
          <a:blip r:embed="rId8"/>
          <a:stretch>
            <a:fillRect/>
          </a:stretch>
        </p:blipFill>
        <p:spPr>
          <a:xfrm>
            <a:off x="5029200" y="3273552"/>
            <a:ext cx="347472" cy="274320"/>
          </a:xfrm>
          <a:prstGeom prst="rect">
            <a:avLst/>
          </a:prstGeom>
        </p:spPr>
      </p:pic>
      <p:sp>
        <p:nvSpPr>
          <p:cNvPr id="40" name="Text 32"/>
          <p:cNvSpPr/>
          <p:nvPr/>
        </p:nvSpPr>
        <p:spPr>
          <a:xfrm>
            <a:off x="4370832" y="3584448"/>
            <a:ext cx="1673352" cy="502920"/>
          </a:xfrm>
          <a:prstGeom prst="rect">
            <a:avLst/>
          </a:prstGeom>
          <a:noFill/>
          <a:ln/>
        </p:spPr>
        <p:txBody>
          <a:bodyPr wrap="square" lIns="0" tIns="0" rIns="0" bIns="0" rtlCol="0" anchor="ctr"/>
          <a:lstStyle/>
          <a:p>
            <a:pPr marL="0" indent="0" algn="ctr">
              <a:buNone/>
            </a:pPr>
            <a:r>
              <a:rPr lang="en-US" sz="1100" b="1" dirty="0">
                <a:solidFill>
                  <a:srgbClr val="0DB7ED"/>
                </a:solidFill>
                <a:latin typeface="Calibri" pitchFamily="34" charset="0"/>
                <a:ea typeface="Calibri" pitchFamily="34" charset="-122"/>
                <a:cs typeface="Calibri" pitchFamily="34" charset="-120"/>
              </a:rPr>
              <a:t>Docker</a:t>
            </a:r>
            <a:endParaRPr lang="en-US" sz="1100" dirty="0"/>
          </a:p>
          <a:p>
            <a:pPr marL="0" indent="0" algn="ctr">
              <a:buNone/>
            </a:pPr>
            <a:r>
              <a:rPr lang="en-US" sz="1100" b="1" dirty="0">
                <a:solidFill>
                  <a:srgbClr val="0DB7ED"/>
                </a:solidFill>
                <a:latin typeface="Calibri" pitchFamily="34" charset="0"/>
                <a:ea typeface="Calibri" pitchFamily="34" charset="-122"/>
                <a:cs typeface="Calibri" pitchFamily="34" charset="-120"/>
              </a:rPr>
              <a:t>Container</a:t>
            </a:r>
            <a:endParaRPr lang="en-US" sz="1100" dirty="0"/>
          </a:p>
        </p:txBody>
      </p:sp>
      <p:sp>
        <p:nvSpPr>
          <p:cNvPr id="41" name="Text 33"/>
          <p:cNvSpPr/>
          <p:nvPr/>
        </p:nvSpPr>
        <p:spPr>
          <a:xfrm>
            <a:off x="4370832" y="4114800"/>
            <a:ext cx="1673352" cy="34747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Portable · reproducible</a:t>
            </a:r>
            <a:endParaRPr lang="en-US" sz="850" dirty="0"/>
          </a:p>
        </p:txBody>
      </p:sp>
      <p:sp>
        <p:nvSpPr>
          <p:cNvPr id="42" name="Text 34"/>
          <p:cNvSpPr/>
          <p:nvPr/>
        </p:nvSpPr>
        <p:spPr>
          <a:xfrm>
            <a:off x="4937760" y="2926080"/>
            <a:ext cx="365760" cy="256032"/>
          </a:xfrm>
          <a:prstGeom prst="rect">
            <a:avLst/>
          </a:prstGeom>
          <a:noFill/>
          <a:ln/>
        </p:spPr>
        <p:txBody>
          <a:bodyPr wrap="square" lIns="0" tIns="0" rIns="0" bIns="0" rtlCol="0" anchor="ctr"/>
          <a:lstStyle/>
          <a:p>
            <a:pPr marL="0" indent="0" algn="ctr">
              <a:buNone/>
            </a:pPr>
            <a:r>
              <a:rPr lang="en-US" sz="1800" dirty="0">
                <a:solidFill>
                  <a:srgbClr val="8B0000"/>
                </a:solidFill>
                <a:latin typeface="Arial" pitchFamily="34" charset="0"/>
                <a:ea typeface="Arial" pitchFamily="34" charset="-122"/>
                <a:cs typeface="Arial" pitchFamily="34" charset="-120"/>
              </a:rPr>
              <a:t>↑</a:t>
            </a:r>
            <a:endParaRPr lang="en-US" sz="1800" dirty="0"/>
          </a:p>
        </p:txBody>
      </p:sp>
      <p:sp>
        <p:nvSpPr>
          <p:cNvPr id="43" name="Text 35"/>
          <p:cNvSpPr/>
          <p:nvPr/>
        </p:nvSpPr>
        <p:spPr>
          <a:xfrm>
            <a:off x="4800600" y="3182112"/>
            <a:ext cx="640080" cy="2011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deploy</a:t>
            </a:r>
            <a:endParaRPr lang="en-US" sz="800" dirty="0"/>
          </a:p>
        </p:txBody>
      </p:sp>
      <p:sp>
        <p:nvSpPr>
          <p:cNvPr id="44" name="Shape 36"/>
          <p:cNvSpPr/>
          <p:nvPr/>
        </p:nvSpPr>
        <p:spPr>
          <a:xfrm>
            <a:off x="347472" y="4645152"/>
            <a:ext cx="8449056" cy="274320"/>
          </a:xfrm>
          <a:prstGeom prst="rect">
            <a:avLst/>
          </a:prstGeom>
          <a:solidFill>
            <a:srgbClr val="F0E0E0"/>
          </a:solidFill>
          <a:ln w="12700">
            <a:solidFill>
              <a:srgbClr val="D4A0A0"/>
            </a:solidFill>
            <a:prstDash val="solid"/>
          </a:ln>
        </p:spPr>
        <p:txBody>
          <a:bodyPr/>
          <a:lstStyle/>
          <a:p>
            <a:endParaRPr lang="en-US"/>
          </a:p>
        </p:txBody>
      </p:sp>
      <p:sp>
        <p:nvSpPr>
          <p:cNvPr id="45" name="Text 37"/>
          <p:cNvSpPr/>
          <p:nvPr/>
        </p:nvSpPr>
        <p:spPr>
          <a:xfrm>
            <a:off x="457200" y="4663440"/>
            <a:ext cx="8229600" cy="22860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Stack: Python · scikit-learn · SHAP · Streamlit · Plotly · Docker · Azure Container Apps · Azure Container Registry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8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Containerization &amp; Cloud Deployment</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Docker · Azure Container Registry · Azure Container Apps</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115568"/>
          </a:xfrm>
          <a:prstGeom prst="rect">
            <a:avLst/>
          </a:prstGeom>
          <a:solidFill>
            <a:srgbClr val="0DB7ED"/>
          </a:solidFill>
          <a:ln w="12700">
            <a:solidFill>
              <a:srgbClr val="0DB7ED"/>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0DB7ED"/>
                </a:solidFill>
                <a:latin typeface="Calibri" pitchFamily="34" charset="0"/>
                <a:ea typeface="Calibri" pitchFamily="34" charset="-122"/>
                <a:cs typeface="Calibri" pitchFamily="34" charset="-120"/>
              </a:rPr>
              <a:t>Why Docker?</a:t>
            </a:r>
            <a:endParaRPr lang="en-US" sz="1100" dirty="0"/>
          </a:p>
        </p:txBody>
      </p:sp>
      <p:sp>
        <p:nvSpPr>
          <p:cNvPr id="11" name="Text 8"/>
          <p:cNvSpPr/>
          <p:nvPr/>
        </p:nvSpPr>
        <p:spPr>
          <a:xfrm>
            <a:off x="896112" y="1435608"/>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Packages the app + all Python dependencies + model files into a single portable unit. Eliminates 'works on my machine' — runs identically locally and on Azure.</a:t>
            </a:r>
            <a:endParaRPr lang="en-US" sz="950" dirty="0"/>
          </a:p>
        </p:txBody>
      </p:sp>
      <p:sp>
        <p:nvSpPr>
          <p:cNvPr id="12" name="Shape 9"/>
          <p:cNvSpPr/>
          <p:nvPr/>
        </p:nvSpPr>
        <p:spPr>
          <a:xfrm>
            <a:off x="347472" y="2313432"/>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347472" y="2313432"/>
            <a:ext cx="64008" cy="1115568"/>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93776" y="2432304"/>
            <a:ext cx="292608" cy="292608"/>
          </a:xfrm>
          <a:prstGeom prst="rect">
            <a:avLst/>
          </a:prstGeom>
        </p:spPr>
      </p:pic>
      <p:sp>
        <p:nvSpPr>
          <p:cNvPr id="15" name="Text 11"/>
          <p:cNvSpPr/>
          <p:nvPr/>
        </p:nvSpPr>
        <p:spPr>
          <a:xfrm>
            <a:off x="896112" y="2386584"/>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Azure Container Apps</a:t>
            </a:r>
            <a:endParaRPr lang="en-US" sz="1100" dirty="0"/>
          </a:p>
        </p:txBody>
      </p:sp>
      <p:sp>
        <p:nvSpPr>
          <p:cNvPr id="16" name="Text 12"/>
          <p:cNvSpPr/>
          <p:nvPr/>
        </p:nvSpPr>
        <p:spPr>
          <a:xfrm>
            <a:off x="896112" y="2697480"/>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Managed serverless-adjacent platform. Handles OS, networking, and scaling automatically. Auto-scales 0→3 replicas under load. Scale-to-zero when idle = zero cost.</a:t>
            </a:r>
            <a:endParaRPr lang="en-US" sz="950" dirty="0"/>
          </a:p>
        </p:txBody>
      </p:sp>
      <p:sp>
        <p:nvSpPr>
          <p:cNvPr id="17" name="Shape 13"/>
          <p:cNvSpPr/>
          <p:nvPr/>
        </p:nvSpPr>
        <p:spPr>
          <a:xfrm>
            <a:off x="347472" y="3575304"/>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3575304"/>
            <a:ext cx="64008" cy="1115568"/>
          </a:xfrm>
          <a:prstGeom prst="rect">
            <a:avLst/>
          </a:prstGeom>
          <a:solidFill>
            <a:srgbClr val="1A4A8B"/>
          </a:solidFill>
          <a:ln w="12700">
            <a:solidFill>
              <a:srgbClr val="1A4A8B"/>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3694176"/>
            <a:ext cx="292608" cy="292608"/>
          </a:xfrm>
          <a:prstGeom prst="rect">
            <a:avLst/>
          </a:prstGeom>
        </p:spPr>
      </p:pic>
      <p:sp>
        <p:nvSpPr>
          <p:cNvPr id="20" name="Text 15"/>
          <p:cNvSpPr/>
          <p:nvPr/>
        </p:nvSpPr>
        <p:spPr>
          <a:xfrm>
            <a:off x="896112" y="3648456"/>
            <a:ext cx="3474720"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Azure Container Registry</a:t>
            </a:r>
            <a:endParaRPr lang="en-US" sz="1100" dirty="0"/>
          </a:p>
        </p:txBody>
      </p:sp>
      <p:sp>
        <p:nvSpPr>
          <p:cNvPr id="21" name="Text 16"/>
          <p:cNvSpPr/>
          <p:nvPr/>
        </p:nvSpPr>
        <p:spPr>
          <a:xfrm>
            <a:off x="896112" y="3959352"/>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Stores and versions the Docker image. Every deployment pulls from ACR — single source of truth for the running image.</a:t>
            </a:r>
            <a:endParaRPr lang="en-US" sz="950" dirty="0"/>
          </a:p>
        </p:txBody>
      </p:sp>
      <p:sp>
        <p:nvSpPr>
          <p:cNvPr id="22" name="Shape 17"/>
          <p:cNvSpPr/>
          <p:nvPr/>
        </p:nvSpPr>
        <p:spPr>
          <a:xfrm>
            <a:off x="4681728" y="1051560"/>
            <a:ext cx="4114800" cy="3840480"/>
          </a:xfrm>
          <a:prstGeom prst="rect">
            <a:avLst/>
          </a:prstGeom>
          <a:solidFill>
            <a:srgbClr val="FFFFFF"/>
          </a:solidFill>
          <a:ln w="12700">
            <a:solidFill>
              <a:srgbClr val="D4A0A0"/>
            </a:solidFill>
            <a:prstDash val="solid"/>
          </a:ln>
        </p:spPr>
        <p:txBody>
          <a:bodyPr/>
          <a:lstStyle/>
          <a:p>
            <a:endParaRPr lang="en-US"/>
          </a:p>
        </p:txBody>
      </p:sp>
      <p:sp>
        <p:nvSpPr>
          <p:cNvPr id="23" name="Shape 18"/>
          <p:cNvSpPr/>
          <p:nvPr/>
        </p:nvSpPr>
        <p:spPr>
          <a:xfrm>
            <a:off x="4681728" y="1051560"/>
            <a:ext cx="4114800" cy="347472"/>
          </a:xfrm>
          <a:prstGeom prst="rect">
            <a:avLst/>
          </a:prstGeom>
          <a:solidFill>
            <a:srgbClr val="8B0000"/>
          </a:solidFill>
          <a:ln w="12700">
            <a:solidFill>
              <a:srgbClr val="8B0000"/>
            </a:solidFill>
            <a:prstDash val="solid"/>
          </a:ln>
        </p:spPr>
        <p:txBody>
          <a:bodyPr/>
          <a:lstStyle/>
          <a:p>
            <a:endParaRPr lang="en-US"/>
          </a:p>
        </p:txBody>
      </p:sp>
      <p:sp>
        <p:nvSpPr>
          <p:cNvPr id="24" name="Text 19"/>
          <p:cNvSpPr/>
          <p:nvPr/>
        </p:nvSpPr>
        <p:spPr>
          <a:xfrm>
            <a:off x="4791456" y="10789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Deployment Pipeline</a:t>
            </a:r>
            <a:endParaRPr lang="en-US" sz="1200" dirty="0"/>
          </a:p>
        </p:txBody>
      </p:sp>
      <p:sp>
        <p:nvSpPr>
          <p:cNvPr id="25" name="Shape 20"/>
          <p:cNvSpPr/>
          <p:nvPr/>
        </p:nvSpPr>
        <p:spPr>
          <a:xfrm>
            <a:off x="4791456" y="1508760"/>
            <a:ext cx="3895344" cy="420624"/>
          </a:xfrm>
          <a:prstGeom prst="rect">
            <a:avLst/>
          </a:prstGeom>
          <a:solidFill>
            <a:srgbClr val="F8F8F8"/>
          </a:solidFill>
          <a:ln w="12700">
            <a:solidFill>
              <a:srgbClr val="DDDDDD"/>
            </a:solidFill>
            <a:prstDash val="solid"/>
          </a:ln>
        </p:spPr>
        <p:txBody>
          <a:bodyPr/>
          <a:lstStyle/>
          <a:p>
            <a:endParaRPr lang="en-US"/>
          </a:p>
        </p:txBody>
      </p:sp>
      <p:sp>
        <p:nvSpPr>
          <p:cNvPr id="26" name="Text 21"/>
          <p:cNvSpPr/>
          <p:nvPr/>
        </p:nvSpPr>
        <p:spPr>
          <a:xfrm>
            <a:off x="4864608" y="1536192"/>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1. docker build -t heart-dashboard .</a:t>
            </a:r>
            <a:endParaRPr lang="en-US" sz="850" dirty="0"/>
          </a:p>
        </p:txBody>
      </p:sp>
      <p:sp>
        <p:nvSpPr>
          <p:cNvPr id="27" name="Shape 22"/>
          <p:cNvSpPr/>
          <p:nvPr/>
        </p:nvSpPr>
        <p:spPr>
          <a:xfrm>
            <a:off x="4791456" y="2029968"/>
            <a:ext cx="3895344" cy="420624"/>
          </a:xfrm>
          <a:prstGeom prst="rect">
            <a:avLst/>
          </a:prstGeom>
          <a:solidFill>
            <a:srgbClr val="F8F8F8"/>
          </a:solidFill>
          <a:ln w="12700">
            <a:solidFill>
              <a:srgbClr val="DDDDDD"/>
            </a:solidFill>
            <a:prstDash val="solid"/>
          </a:ln>
        </p:spPr>
        <p:txBody>
          <a:bodyPr/>
          <a:lstStyle/>
          <a:p>
            <a:endParaRPr lang="en-US"/>
          </a:p>
        </p:txBody>
      </p:sp>
      <p:sp>
        <p:nvSpPr>
          <p:cNvPr id="28" name="Text 23"/>
          <p:cNvSpPr/>
          <p:nvPr/>
        </p:nvSpPr>
        <p:spPr>
          <a:xfrm>
            <a:off x="4864608" y="2057400"/>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2. az acr login --name heartdashboardcyron</a:t>
            </a:r>
            <a:endParaRPr lang="en-US" sz="850" dirty="0"/>
          </a:p>
        </p:txBody>
      </p:sp>
      <p:sp>
        <p:nvSpPr>
          <p:cNvPr id="29" name="Shape 24"/>
          <p:cNvSpPr/>
          <p:nvPr/>
        </p:nvSpPr>
        <p:spPr>
          <a:xfrm>
            <a:off x="4791456" y="2551176"/>
            <a:ext cx="3895344" cy="420624"/>
          </a:xfrm>
          <a:prstGeom prst="rect">
            <a:avLst/>
          </a:prstGeom>
          <a:solidFill>
            <a:srgbClr val="F8F8F8"/>
          </a:solidFill>
          <a:ln w="12700">
            <a:solidFill>
              <a:srgbClr val="DDDDDD"/>
            </a:solidFill>
            <a:prstDash val="solid"/>
          </a:ln>
        </p:spPr>
        <p:txBody>
          <a:bodyPr/>
          <a:lstStyle/>
          <a:p>
            <a:endParaRPr lang="en-US"/>
          </a:p>
        </p:txBody>
      </p:sp>
      <p:sp>
        <p:nvSpPr>
          <p:cNvPr id="30" name="Text 25"/>
          <p:cNvSpPr/>
          <p:nvPr/>
        </p:nvSpPr>
        <p:spPr>
          <a:xfrm>
            <a:off x="4864608" y="2578608"/>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3. docker tag ... heartdashboardcyron.azurecr.io/heart-dashboard:latest</a:t>
            </a:r>
            <a:endParaRPr lang="en-US" sz="850" dirty="0"/>
          </a:p>
        </p:txBody>
      </p:sp>
      <p:sp>
        <p:nvSpPr>
          <p:cNvPr id="31" name="Shape 26"/>
          <p:cNvSpPr/>
          <p:nvPr/>
        </p:nvSpPr>
        <p:spPr>
          <a:xfrm>
            <a:off x="4791456" y="3072384"/>
            <a:ext cx="3895344" cy="420624"/>
          </a:xfrm>
          <a:prstGeom prst="rect">
            <a:avLst/>
          </a:prstGeom>
          <a:solidFill>
            <a:srgbClr val="F8F8F8"/>
          </a:solidFill>
          <a:ln w="12700">
            <a:solidFill>
              <a:srgbClr val="DDDDDD"/>
            </a:solidFill>
            <a:prstDash val="solid"/>
          </a:ln>
        </p:spPr>
        <p:txBody>
          <a:bodyPr/>
          <a:lstStyle/>
          <a:p>
            <a:endParaRPr lang="en-US"/>
          </a:p>
        </p:txBody>
      </p:sp>
      <p:sp>
        <p:nvSpPr>
          <p:cNvPr id="32" name="Text 27"/>
          <p:cNvSpPr/>
          <p:nvPr/>
        </p:nvSpPr>
        <p:spPr>
          <a:xfrm>
            <a:off x="4864608" y="3099816"/>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4. docker push heartdashboardcyron.azurecr.io/heart-dashboard:latest</a:t>
            </a:r>
            <a:endParaRPr lang="en-US" sz="850" dirty="0"/>
          </a:p>
        </p:txBody>
      </p:sp>
      <p:sp>
        <p:nvSpPr>
          <p:cNvPr id="33" name="Shape 28"/>
          <p:cNvSpPr/>
          <p:nvPr/>
        </p:nvSpPr>
        <p:spPr>
          <a:xfrm>
            <a:off x="4791456" y="3593592"/>
            <a:ext cx="3895344" cy="420624"/>
          </a:xfrm>
          <a:prstGeom prst="rect">
            <a:avLst/>
          </a:prstGeom>
          <a:solidFill>
            <a:srgbClr val="F8F8F8"/>
          </a:solidFill>
          <a:ln w="12700">
            <a:solidFill>
              <a:srgbClr val="DDDDDD"/>
            </a:solidFill>
            <a:prstDash val="solid"/>
          </a:ln>
        </p:spPr>
        <p:txBody>
          <a:bodyPr/>
          <a:lstStyle/>
          <a:p>
            <a:endParaRPr lang="en-US"/>
          </a:p>
        </p:txBody>
      </p:sp>
      <p:sp>
        <p:nvSpPr>
          <p:cNvPr id="34" name="Text 29"/>
          <p:cNvSpPr/>
          <p:nvPr/>
        </p:nvSpPr>
        <p:spPr>
          <a:xfrm>
            <a:off x="4864608" y="3621024"/>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5. bash deploy_azure.sh → Container Apps deployment</a:t>
            </a:r>
            <a:endParaRPr lang="en-US" sz="850" dirty="0"/>
          </a:p>
        </p:txBody>
      </p:sp>
      <p:sp>
        <p:nvSpPr>
          <p:cNvPr id="35" name="Shape 30"/>
          <p:cNvSpPr/>
          <p:nvPr/>
        </p:nvSpPr>
        <p:spPr>
          <a:xfrm>
            <a:off x="4791456" y="4114800"/>
            <a:ext cx="3895344" cy="420624"/>
          </a:xfrm>
          <a:prstGeom prst="rect">
            <a:avLst/>
          </a:prstGeom>
          <a:solidFill>
            <a:srgbClr val="E8F5E9"/>
          </a:solidFill>
          <a:ln w="12700">
            <a:solidFill>
              <a:srgbClr val="4CAF50"/>
            </a:solidFill>
            <a:prstDash val="solid"/>
          </a:ln>
        </p:spPr>
        <p:txBody>
          <a:bodyPr/>
          <a:lstStyle/>
          <a:p>
            <a:endParaRPr lang="en-US"/>
          </a:p>
        </p:txBody>
      </p:sp>
      <p:sp>
        <p:nvSpPr>
          <p:cNvPr id="36" name="Text 31"/>
          <p:cNvSpPr/>
          <p:nvPr/>
        </p:nvSpPr>
        <p:spPr>
          <a:xfrm>
            <a:off x="4864608" y="4142232"/>
            <a:ext cx="3749040" cy="347472"/>
          </a:xfrm>
          <a:prstGeom prst="rect">
            <a:avLst/>
          </a:prstGeom>
          <a:noFill/>
          <a:ln/>
        </p:spPr>
        <p:txBody>
          <a:bodyPr wrap="square" lIns="0" tIns="0" rIns="0" bIns="0" rtlCol="0" anchor="ctr"/>
          <a:lstStyle/>
          <a:p>
            <a:pPr marL="0" indent="0">
              <a:buNone/>
            </a:pPr>
            <a:r>
              <a:rPr lang="en-US" sz="850" b="1" dirty="0">
                <a:solidFill>
                  <a:srgbClr val="1B7A3E"/>
                </a:solidFill>
                <a:latin typeface="Courier New" pitchFamily="34" charset="0"/>
                <a:ea typeface="Courier New" pitchFamily="34" charset="-122"/>
                <a:cs typeface="Courier New" pitchFamily="34" charset="-120"/>
              </a:rPr>
              <a:t>6. Live at: heart-disease-dashboard.gentlemoss-1b6edc24.eastus.azurecontainerapps.io</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9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Load Testing — Azure Deployment</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Locust · 3 concurrency levels · Azure Container Apps vs. Local baseline</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47472" y="1051560"/>
          <a:ext cx="8449056" cy="2688336"/>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3419856">
                  <a:extLst>
                    <a:ext uri="{9D8B030D-6E8A-4147-A177-3AD203B41FA5}">
                      <a16:colId xmlns:a16="http://schemas.microsoft.com/office/drawing/2014/main" val="20006"/>
                    </a:ext>
                  </a:extLst>
                </a:gridCol>
              </a:tblGrid>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Users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Median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95th pct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RPS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Failures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Notes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3.07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Static assets only</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3.07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Comparable baseline</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26.64</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Healthy scale-up</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750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19.17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1B7A3E"/>
                          </a:solidFill>
                          <a:latin typeface="Calibri" pitchFamily="34" charset="0"/>
                          <a:ea typeface="Calibri" pitchFamily="34" charset="-122"/>
                          <a:cs typeface="Calibri" pitchFamily="34" charset="-120"/>
                        </a:rPr>
                        <a:t>Azure 10× faster</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41000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63.41</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8B0000"/>
                          </a:solidFill>
                          <a:latin typeface="Calibri" pitchFamily="34" charset="0"/>
                          <a:ea typeface="Calibri" pitchFamily="34" charset="-122"/>
                          <a:cs typeface="Calibri" pitchFamily="34" charset="-120"/>
                        </a:rPr>
                        <a:t>Degrades — near ceiling</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8B0000"/>
                          </a:solidFill>
                          <a:latin typeface="Calibri" pitchFamily="34" charset="0"/>
                          <a:ea typeface="Calibri" pitchFamily="34" charset="-122"/>
                          <a:cs typeface="Calibri" pitchFamily="34" charset="-120"/>
                        </a:rPr>
                        <a:t>4100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8B0000"/>
                          </a:solidFill>
                          <a:latin typeface="Calibri" pitchFamily="34" charset="0"/>
                          <a:ea typeface="Calibri" pitchFamily="34" charset="-122"/>
                          <a:cs typeface="Calibri" pitchFamily="34" charset="-120"/>
                        </a:rPr>
                        <a:t>4100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73.14</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8B0000"/>
                          </a:solidFill>
                          <a:latin typeface="Calibri" pitchFamily="34" charset="0"/>
                          <a:ea typeface="Calibri" pitchFamily="34" charset="-122"/>
                          <a:cs typeface="Calibri" pitchFamily="34" charset="-120"/>
                        </a:rPr>
                        <a:t>Saturated — fails</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347472" y="4041648"/>
            <a:ext cx="8449056" cy="320040"/>
          </a:xfrm>
          <a:prstGeom prst="rect">
            <a:avLst/>
          </a:prstGeom>
          <a:noFill/>
          <a:ln/>
        </p:spPr>
        <p:txBody>
          <a:bodyPr wrap="square" lIns="0" tIns="0" rIns="0" bIns="0" rtlCol="0" anchor="ctr"/>
          <a:lstStyle/>
          <a:p>
            <a:pPr marL="0" indent="0">
              <a:buNone/>
            </a:pPr>
            <a:r>
              <a:rPr lang="en-US" sz="850" i="1" dirty="0">
                <a:solidFill>
                  <a:srgbClr val="555555"/>
                </a:solidFill>
                <a:latin typeface="Calibri" pitchFamily="34" charset="0"/>
                <a:ea typeface="Calibri" pitchFamily="34" charset="-122"/>
                <a:cs typeface="Calibri" pitchFamily="34" charset="-120"/>
              </a:rPr>
              <a:t>* Failure % is static assets returning 0 bytes — health check and homepage endpoints had 0% failures. Core app functionality was unaffected.</a:t>
            </a:r>
            <a:endParaRPr lang="en-US" sz="850" dirty="0"/>
          </a:p>
        </p:txBody>
      </p:sp>
      <p:sp>
        <p:nvSpPr>
          <p:cNvPr id="9" name="Shape 6"/>
          <p:cNvSpPr/>
          <p:nvPr/>
        </p:nvSpPr>
        <p:spPr>
          <a:xfrm>
            <a:off x="347472" y="4434840"/>
            <a:ext cx="8449056" cy="475488"/>
          </a:xfrm>
          <a:prstGeom prst="rect">
            <a:avLst/>
          </a:prstGeom>
          <a:solidFill>
            <a:srgbClr val="FFF8E1"/>
          </a:solidFill>
          <a:ln w="12700">
            <a:solidFill>
              <a:srgbClr val="F0C040"/>
            </a:solidFill>
            <a:prstDash val="solid"/>
          </a:ln>
        </p:spPr>
        <p:txBody>
          <a:bodyPr/>
          <a:lstStyle/>
          <a:p>
            <a:endParaRPr lang="en-US"/>
          </a:p>
        </p:txBody>
      </p:sp>
      <p:sp>
        <p:nvSpPr>
          <p:cNvPr id="7" name="Text 7"/>
          <p:cNvSpPr/>
          <p:nvPr/>
        </p:nvSpPr>
        <p:spPr>
          <a:xfrm>
            <a:off x="457200" y="4462272"/>
            <a:ext cx="8229600" cy="402336"/>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Key finding: Azure handled 10 and 100 users cleanly. At 1000 users Azure degraded gracefully (16% static asset failures) while local saturated completely (73% failure rate). Cloud deployment provides meaningful resilience at scale.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10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Load Testing — Visual Evidence</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Locust screenshots: Azure (left) vs Local (right)</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594360" cy="1170432"/>
          </a:xfrm>
          <a:prstGeom prst="rect">
            <a:avLst/>
          </a:prstGeom>
          <a:solidFill>
            <a:srgbClr val="8B0000"/>
          </a:solidFill>
          <a:ln w="12700">
            <a:solidFill>
              <a:srgbClr val="8B0000"/>
            </a:solidFill>
            <a:prstDash val="solid"/>
          </a:ln>
        </p:spPr>
        <p:txBody>
          <a:bodyPr/>
          <a:lstStyle/>
          <a:p>
            <a:endParaRPr lang="en-US"/>
          </a:p>
        </p:txBody>
      </p:sp>
      <p:sp>
        <p:nvSpPr>
          <p:cNvPr id="8" name="Text 6"/>
          <p:cNvSpPr/>
          <p:nvPr/>
        </p:nvSpPr>
        <p:spPr>
          <a:xfrm rot="16200000">
            <a:off x="347472" y="1399032"/>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 Users</a:t>
            </a:r>
            <a:endParaRPr lang="en-US" sz="900" dirty="0"/>
          </a:p>
        </p:txBody>
      </p:sp>
      <p:pic>
        <p:nvPicPr>
          <p:cNvPr id="9" name="Image 0" descr="/mnt/user-data/uploads/locust_10users_app.png"/>
          <p:cNvPicPr>
            <a:picLocks noChangeAspect="1"/>
          </p:cNvPicPr>
          <p:nvPr/>
        </p:nvPicPr>
        <p:blipFill>
          <a:blip r:embed="rId3"/>
          <a:srcRect/>
          <a:stretch/>
        </p:blipFill>
        <p:spPr>
          <a:xfrm>
            <a:off x="1005840" y="1088136"/>
            <a:ext cx="3749040" cy="1097280"/>
          </a:xfrm>
          <a:prstGeom prst="rect">
            <a:avLst/>
          </a:prstGeom>
        </p:spPr>
      </p:pic>
      <p:pic>
        <p:nvPicPr>
          <p:cNvPr id="10" name="Image 1" descr="/mnt/user-data/uploads/locust_10users_LOCAL.png"/>
          <p:cNvPicPr>
            <a:picLocks noChangeAspect="1"/>
          </p:cNvPicPr>
          <p:nvPr/>
        </p:nvPicPr>
        <p:blipFill>
          <a:blip r:embed="rId4"/>
          <a:srcRect/>
          <a:stretch/>
        </p:blipFill>
        <p:spPr>
          <a:xfrm>
            <a:off x="4937760" y="1088136"/>
            <a:ext cx="3749040" cy="1097280"/>
          </a:xfrm>
          <a:prstGeom prst="rect">
            <a:avLst/>
          </a:prstGeom>
        </p:spPr>
      </p:pic>
      <p:sp>
        <p:nvSpPr>
          <p:cNvPr id="11" name="Shape 7"/>
          <p:cNvSpPr/>
          <p:nvPr/>
        </p:nvSpPr>
        <p:spPr>
          <a:xfrm>
            <a:off x="347472" y="2350008"/>
            <a:ext cx="594360" cy="1170432"/>
          </a:xfrm>
          <a:prstGeom prst="rect">
            <a:avLst/>
          </a:prstGeom>
          <a:solidFill>
            <a:srgbClr val="8B0000"/>
          </a:solidFill>
          <a:ln w="12700">
            <a:solidFill>
              <a:srgbClr val="8B0000"/>
            </a:solidFill>
            <a:prstDash val="solid"/>
          </a:ln>
        </p:spPr>
        <p:txBody>
          <a:bodyPr/>
          <a:lstStyle/>
          <a:p>
            <a:endParaRPr lang="en-US"/>
          </a:p>
        </p:txBody>
      </p:sp>
      <p:sp>
        <p:nvSpPr>
          <p:cNvPr id="12" name="Text 8"/>
          <p:cNvSpPr/>
          <p:nvPr/>
        </p:nvSpPr>
        <p:spPr>
          <a:xfrm rot="16200000">
            <a:off x="347472" y="2697480"/>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 Users</a:t>
            </a:r>
            <a:endParaRPr lang="en-US" sz="900" dirty="0"/>
          </a:p>
        </p:txBody>
      </p:sp>
      <p:pic>
        <p:nvPicPr>
          <p:cNvPr id="13" name="Image 2" descr="/mnt/user-data/uploads/locust_100users_app.png"/>
          <p:cNvPicPr>
            <a:picLocks noChangeAspect="1"/>
          </p:cNvPicPr>
          <p:nvPr/>
        </p:nvPicPr>
        <p:blipFill>
          <a:blip r:embed="rId5"/>
          <a:srcRect/>
          <a:stretch/>
        </p:blipFill>
        <p:spPr>
          <a:xfrm>
            <a:off x="1005840" y="2386584"/>
            <a:ext cx="3749040" cy="1097280"/>
          </a:xfrm>
          <a:prstGeom prst="rect">
            <a:avLst/>
          </a:prstGeom>
        </p:spPr>
      </p:pic>
      <p:pic>
        <p:nvPicPr>
          <p:cNvPr id="14" name="Image 3" descr="/mnt/user-data/uploads/locust_100users_LOCAL.png"/>
          <p:cNvPicPr>
            <a:picLocks noChangeAspect="1"/>
          </p:cNvPicPr>
          <p:nvPr/>
        </p:nvPicPr>
        <p:blipFill>
          <a:blip r:embed="rId6"/>
          <a:srcRect/>
          <a:stretch/>
        </p:blipFill>
        <p:spPr>
          <a:xfrm>
            <a:off x="4937760" y="2386584"/>
            <a:ext cx="3749040" cy="1097280"/>
          </a:xfrm>
          <a:prstGeom prst="rect">
            <a:avLst/>
          </a:prstGeom>
        </p:spPr>
      </p:pic>
      <p:sp>
        <p:nvSpPr>
          <p:cNvPr id="15" name="Shape 9"/>
          <p:cNvSpPr/>
          <p:nvPr/>
        </p:nvSpPr>
        <p:spPr>
          <a:xfrm>
            <a:off x="347472" y="3648456"/>
            <a:ext cx="594360" cy="1170432"/>
          </a:xfrm>
          <a:prstGeom prst="rect">
            <a:avLst/>
          </a:prstGeom>
          <a:solidFill>
            <a:srgbClr val="8B0000"/>
          </a:solidFill>
          <a:ln w="12700">
            <a:solidFill>
              <a:srgbClr val="8B0000"/>
            </a:solidFill>
            <a:prstDash val="solid"/>
          </a:ln>
        </p:spPr>
        <p:txBody>
          <a:bodyPr/>
          <a:lstStyle/>
          <a:p>
            <a:endParaRPr lang="en-US"/>
          </a:p>
        </p:txBody>
      </p:sp>
      <p:sp>
        <p:nvSpPr>
          <p:cNvPr id="16" name="Text 10"/>
          <p:cNvSpPr/>
          <p:nvPr/>
        </p:nvSpPr>
        <p:spPr>
          <a:xfrm rot="16200000">
            <a:off x="347472" y="3995928"/>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1000 Users</a:t>
            </a:r>
            <a:endParaRPr lang="en-US" sz="900" dirty="0"/>
          </a:p>
        </p:txBody>
      </p:sp>
      <p:pic>
        <p:nvPicPr>
          <p:cNvPr id="17" name="Image 4" descr="/mnt/user-data/uploads/locust_1000users_app.png"/>
          <p:cNvPicPr>
            <a:picLocks noChangeAspect="1"/>
          </p:cNvPicPr>
          <p:nvPr/>
        </p:nvPicPr>
        <p:blipFill>
          <a:blip r:embed="rId7"/>
          <a:srcRect/>
          <a:stretch/>
        </p:blipFill>
        <p:spPr>
          <a:xfrm>
            <a:off x="1005840" y="3685032"/>
            <a:ext cx="3749040" cy="1097280"/>
          </a:xfrm>
          <a:prstGeom prst="rect">
            <a:avLst/>
          </a:prstGeom>
        </p:spPr>
      </p:pic>
      <p:pic>
        <p:nvPicPr>
          <p:cNvPr id="18" name="Image 5" descr="/mnt/user-data/uploads/locust_1000users_LOCAL.png"/>
          <p:cNvPicPr>
            <a:picLocks noChangeAspect="1"/>
          </p:cNvPicPr>
          <p:nvPr/>
        </p:nvPicPr>
        <p:blipFill>
          <a:blip r:embed="rId8"/>
          <a:srcRect/>
          <a:stretch/>
        </p:blipFill>
        <p:spPr>
          <a:xfrm>
            <a:off x="4937760" y="3685032"/>
            <a:ext cx="3749040" cy="1097280"/>
          </a:xfrm>
          <a:prstGeom prst="rect">
            <a:avLst/>
          </a:prstGeom>
        </p:spPr>
      </p:pic>
      <p:sp>
        <p:nvSpPr>
          <p:cNvPr id="19" name="Text 11"/>
          <p:cNvSpPr/>
          <p:nvPr/>
        </p:nvSpPr>
        <p:spPr>
          <a:xfrm>
            <a:off x="1005840" y="914400"/>
            <a:ext cx="3749040" cy="228600"/>
          </a:xfrm>
          <a:prstGeom prst="rect">
            <a:avLst/>
          </a:prstGeom>
          <a:noFill/>
          <a:ln/>
        </p:spPr>
        <p:txBody>
          <a:bodyPr wrap="square" lIns="0" tIns="0" rIns="0" bIns="0" rtlCol="0" anchor="ctr"/>
          <a:lstStyle/>
          <a:p>
            <a:pPr marL="0" indent="0" algn="ctr">
              <a:buNone/>
            </a:pPr>
            <a:r>
              <a:rPr lang="en-US" sz="1000" b="1" dirty="0">
                <a:solidFill>
                  <a:srgbClr val="8B0000"/>
                </a:solidFill>
                <a:latin typeface="Calibri" pitchFamily="34" charset="0"/>
                <a:ea typeface="Calibri" pitchFamily="34" charset="-122"/>
                <a:cs typeface="Calibri" pitchFamily="34" charset="-120"/>
              </a:rPr>
              <a:t>Azure (deployed)</a:t>
            </a:r>
            <a:endParaRPr lang="en-US" sz="1000" dirty="0"/>
          </a:p>
        </p:txBody>
      </p:sp>
      <p:sp>
        <p:nvSpPr>
          <p:cNvPr id="20" name="Text 12"/>
          <p:cNvSpPr/>
          <p:nvPr/>
        </p:nvSpPr>
        <p:spPr>
          <a:xfrm>
            <a:off x="4937760" y="914400"/>
            <a:ext cx="3749040" cy="228600"/>
          </a:xfrm>
          <a:prstGeom prst="rect">
            <a:avLst/>
          </a:prstGeom>
          <a:noFill/>
          <a:ln/>
        </p:spPr>
        <p:txBody>
          <a:bodyPr wrap="square" lIns="0" tIns="0" rIns="0" bIns="0" rtlCol="0" anchor="ctr"/>
          <a:lstStyle/>
          <a:p>
            <a:pPr marL="0" indent="0" algn="ctr">
              <a:buNone/>
            </a:pPr>
            <a:r>
              <a:rPr lang="en-US" sz="1000" b="1" dirty="0">
                <a:solidFill>
                  <a:srgbClr val="555555"/>
                </a:solidFill>
                <a:latin typeface="Calibri" pitchFamily="34" charset="0"/>
                <a:ea typeface="Calibri" pitchFamily="34" charset="-122"/>
                <a:cs typeface="Calibri" pitchFamily="34" charset="-120"/>
              </a:rPr>
              <a:t>Local (baseline)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11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Future Considerations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Extensions if deployed in a real healthcare setting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481328"/>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Patient Portal Integration</a:t>
            </a:r>
            <a:endParaRPr lang="en-US" sz="1100" dirty="0"/>
          </a:p>
        </p:txBody>
      </p:sp>
      <p:sp>
        <p:nvSpPr>
          <p:cNvPr id="11" name="Text 8"/>
          <p:cNvSpPr/>
          <p:nvPr/>
        </p:nvSpPr>
        <p:spPr>
          <a:xfrm>
            <a:off x="896112" y="143560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REST API can plug into existing platforms like Epic MyChart — frontend is replaceable since all logic lives in the backend</a:t>
            </a:r>
            <a:endParaRPr lang="en-US" sz="950" dirty="0"/>
          </a:p>
        </p:txBody>
      </p:sp>
      <p:sp>
        <p:nvSpPr>
          <p:cNvPr id="12" name="Shape 9"/>
          <p:cNvSpPr/>
          <p:nvPr/>
        </p:nvSpPr>
        <p:spPr>
          <a:xfrm>
            <a:off x="4681728" y="105156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4681728" y="1051560"/>
            <a:ext cx="64008" cy="1481328"/>
          </a:xfrm>
          <a:prstGeom prst="rect">
            <a:avLst/>
          </a:prstGeom>
          <a:solidFill>
            <a:srgbClr val="1A4A8B"/>
          </a:solidFill>
          <a:ln w="12700">
            <a:solidFill>
              <a:srgbClr val="1A4A8B"/>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28032" y="1170432"/>
            <a:ext cx="292608" cy="292608"/>
          </a:xfrm>
          <a:prstGeom prst="rect">
            <a:avLst/>
          </a:prstGeom>
        </p:spPr>
      </p:pic>
      <p:sp>
        <p:nvSpPr>
          <p:cNvPr id="15" name="Text 11"/>
          <p:cNvSpPr/>
          <p:nvPr/>
        </p:nvSpPr>
        <p:spPr>
          <a:xfrm>
            <a:off x="5230368" y="1124712"/>
            <a:ext cx="3474720"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Real-Time EHR Data Pull</a:t>
            </a:r>
            <a:endParaRPr lang="en-US" sz="1100" dirty="0"/>
          </a:p>
        </p:txBody>
      </p:sp>
      <p:sp>
        <p:nvSpPr>
          <p:cNvPr id="16" name="Text 12"/>
          <p:cNvSpPr/>
          <p:nvPr/>
        </p:nvSpPr>
        <p:spPr>
          <a:xfrm>
            <a:off x="5230368" y="143560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Instead of manual entry, pull cholesterol, BP, and vitals directly from electronic health records</a:t>
            </a:r>
            <a:endParaRPr lang="en-US" sz="950" dirty="0"/>
          </a:p>
        </p:txBody>
      </p:sp>
      <p:sp>
        <p:nvSpPr>
          <p:cNvPr id="17" name="Shape 13"/>
          <p:cNvSpPr/>
          <p:nvPr/>
        </p:nvSpPr>
        <p:spPr>
          <a:xfrm>
            <a:off x="347472" y="274320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2743200"/>
            <a:ext cx="64008" cy="1481328"/>
          </a:xfrm>
          <a:prstGeom prst="rect">
            <a:avLst/>
          </a:prstGeom>
          <a:solidFill>
            <a:srgbClr val="B85C00"/>
          </a:solidFill>
          <a:ln w="12700">
            <a:solidFill>
              <a:srgbClr val="B85C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2862072"/>
            <a:ext cx="292608" cy="292608"/>
          </a:xfrm>
          <a:prstGeom prst="rect">
            <a:avLst/>
          </a:prstGeom>
        </p:spPr>
      </p:pic>
      <p:sp>
        <p:nvSpPr>
          <p:cNvPr id="20" name="Text 15"/>
          <p:cNvSpPr/>
          <p:nvPr/>
        </p:nvSpPr>
        <p:spPr>
          <a:xfrm>
            <a:off x="896112" y="2816352"/>
            <a:ext cx="3474720" cy="274320"/>
          </a:xfrm>
          <a:prstGeom prst="rect">
            <a:avLst/>
          </a:prstGeom>
          <a:noFill/>
          <a:ln/>
        </p:spPr>
        <p:txBody>
          <a:bodyPr wrap="square" lIns="0" tIns="0" rIns="0" bIns="0" rtlCol="0" anchor="ctr"/>
          <a:lstStyle/>
          <a:p>
            <a:pPr marL="0" indent="0">
              <a:buNone/>
            </a:pPr>
            <a:r>
              <a:rPr lang="en-US" sz="1100" b="1" dirty="0">
                <a:solidFill>
                  <a:srgbClr val="B85C00"/>
                </a:solidFill>
                <a:latin typeface="Calibri" pitchFamily="34" charset="0"/>
                <a:ea typeface="Calibri" pitchFamily="34" charset="-122"/>
                <a:cs typeface="Calibri" pitchFamily="34" charset="-120"/>
              </a:rPr>
              <a:t>HIPAA Compliance</a:t>
            </a:r>
            <a:endParaRPr lang="en-US" sz="1100" dirty="0"/>
          </a:p>
        </p:txBody>
      </p:sp>
      <p:sp>
        <p:nvSpPr>
          <p:cNvPr id="21" name="Text 16"/>
          <p:cNvSpPr/>
          <p:nvPr/>
        </p:nvSpPr>
        <p:spPr>
          <a:xfrm>
            <a:off x="896112" y="312724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Real deployment needs encrypted storage, access controls, and audit logging to meet healthcare privacy regulations</a:t>
            </a:r>
            <a:endParaRPr lang="en-US" sz="950" dirty="0"/>
          </a:p>
        </p:txBody>
      </p:sp>
      <p:sp>
        <p:nvSpPr>
          <p:cNvPr id="22" name="Shape 17"/>
          <p:cNvSpPr/>
          <p:nvPr/>
        </p:nvSpPr>
        <p:spPr>
          <a:xfrm>
            <a:off x="4681728" y="274320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3" name="Shape 18"/>
          <p:cNvSpPr/>
          <p:nvPr/>
        </p:nvSpPr>
        <p:spPr>
          <a:xfrm>
            <a:off x="4681728" y="2743200"/>
            <a:ext cx="64008" cy="1481328"/>
          </a:xfrm>
          <a:prstGeom prst="rect">
            <a:avLst/>
          </a:prstGeom>
          <a:solidFill>
            <a:srgbClr val="1B7A3E"/>
          </a:solidFill>
          <a:ln w="12700">
            <a:solidFill>
              <a:srgbClr val="1B7A3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28032" y="2862072"/>
            <a:ext cx="292608" cy="292608"/>
          </a:xfrm>
          <a:prstGeom prst="rect">
            <a:avLst/>
          </a:prstGeom>
        </p:spPr>
      </p:pic>
      <p:sp>
        <p:nvSpPr>
          <p:cNvPr id="25" name="Text 19"/>
          <p:cNvSpPr/>
          <p:nvPr/>
        </p:nvSpPr>
        <p:spPr>
          <a:xfrm>
            <a:off x="5230368" y="2816352"/>
            <a:ext cx="3474720" cy="274320"/>
          </a:xfrm>
          <a:prstGeom prst="rect">
            <a:avLst/>
          </a:prstGeom>
          <a:noFill/>
          <a:ln/>
        </p:spPr>
        <p:txBody>
          <a:bodyPr wrap="square" lIns="0" tIns="0" rIns="0" bIns="0" rtlCol="0" anchor="ctr"/>
          <a:lstStyle/>
          <a:p>
            <a:pPr marL="0" indent="0">
              <a:buNone/>
            </a:pPr>
            <a:r>
              <a:rPr lang="en-US" sz="1100" b="1" dirty="0">
                <a:solidFill>
                  <a:srgbClr val="1B7A3E"/>
                </a:solidFill>
                <a:latin typeface="Calibri" pitchFamily="34" charset="0"/>
                <a:ea typeface="Calibri" pitchFamily="34" charset="-122"/>
                <a:cs typeface="Calibri" pitchFamily="34" charset="-120"/>
              </a:rPr>
              <a:t>Automated Model Retraining</a:t>
            </a:r>
            <a:endParaRPr lang="en-US" sz="1100" dirty="0"/>
          </a:p>
        </p:txBody>
      </p:sp>
      <p:sp>
        <p:nvSpPr>
          <p:cNvPr id="26" name="Text 20"/>
          <p:cNvSpPr/>
          <p:nvPr/>
        </p:nvSpPr>
        <p:spPr>
          <a:xfrm>
            <a:off x="5230368" y="312724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Azure ML pipelines could trigger retraining when new patient data arrives — model improves automatically over time</a:t>
            </a:r>
            <a:endParaRPr lang="en-US" sz="950" dirty="0"/>
          </a:p>
        </p:txBody>
      </p:sp>
      <p:sp>
        <p:nvSpPr>
          <p:cNvPr id="27" name="Shape 21"/>
          <p:cNvSpPr/>
          <p:nvPr/>
        </p:nvSpPr>
        <p:spPr>
          <a:xfrm>
            <a:off x="2514600" y="4261104"/>
            <a:ext cx="4114800" cy="114300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8" name="Shape 22"/>
          <p:cNvSpPr/>
          <p:nvPr/>
        </p:nvSpPr>
        <p:spPr>
          <a:xfrm>
            <a:off x="2523744" y="4315968"/>
            <a:ext cx="64008" cy="1481328"/>
          </a:xfrm>
          <a:prstGeom prst="rect">
            <a:avLst/>
          </a:prstGeom>
          <a:solidFill>
            <a:srgbClr val="8B0000"/>
          </a:solidFill>
          <a:ln w="12700">
            <a:solidFill>
              <a:srgbClr val="8B0000"/>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2670048" y="4434840"/>
            <a:ext cx="292608" cy="292608"/>
          </a:xfrm>
          <a:prstGeom prst="rect">
            <a:avLst/>
          </a:prstGeom>
        </p:spPr>
      </p:pic>
      <p:sp>
        <p:nvSpPr>
          <p:cNvPr id="30" name="Text 23"/>
          <p:cNvSpPr/>
          <p:nvPr/>
        </p:nvSpPr>
        <p:spPr>
          <a:xfrm>
            <a:off x="3072384" y="4389120"/>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Physician-Facing Dashboard</a:t>
            </a:r>
            <a:endParaRPr lang="en-US" sz="1100" dirty="0"/>
          </a:p>
        </p:txBody>
      </p:sp>
      <p:sp>
        <p:nvSpPr>
          <p:cNvPr id="31" name="Text 24"/>
          <p:cNvSpPr/>
          <p:nvPr/>
        </p:nvSpPr>
        <p:spPr>
          <a:xfrm>
            <a:off x="3010039" y="4434840"/>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Separate view for clinicians to review flagged high-risk patients and track population-level trends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B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977640" y="457200"/>
            <a:ext cx="1188720" cy="1188720"/>
          </a:xfrm>
          <a:prstGeom prst="rect">
            <a:avLst/>
          </a:prstGeom>
        </p:spPr>
      </p:pic>
      <p:sp>
        <p:nvSpPr>
          <p:cNvPr id="3" name="Text 0"/>
          <p:cNvSpPr/>
          <p:nvPr/>
        </p:nvSpPr>
        <p:spPr>
          <a:xfrm>
            <a:off x="914400" y="1737360"/>
            <a:ext cx="7315200" cy="82296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1"/>
          <p:cNvSpPr/>
          <p:nvPr/>
        </p:nvSpPr>
        <p:spPr>
          <a:xfrm>
            <a:off x="1828800" y="2606040"/>
            <a:ext cx="5486400" cy="411480"/>
          </a:xfrm>
          <a:prstGeom prst="rect">
            <a:avLst/>
          </a:prstGeom>
          <a:noFill/>
          <a:ln/>
        </p:spPr>
        <p:txBody>
          <a:bodyPr wrap="square" rtlCol="0" anchor="ctr"/>
          <a:lstStyle/>
          <a:p>
            <a:pPr marL="0" indent="0" algn="ctr">
              <a:buNone/>
            </a:pPr>
            <a:r>
              <a:rPr lang="en-US" sz="1600" i="1" dirty="0">
                <a:solidFill>
                  <a:srgbClr val="F5C0C0"/>
                </a:solidFill>
                <a:latin typeface="Calibri" pitchFamily="34" charset="0"/>
                <a:ea typeface="Calibri" pitchFamily="34" charset="-122"/>
                <a:cs typeface="Calibri" pitchFamily="34" charset="-120"/>
              </a:rPr>
              <a:t>Questions &amp; Discussion</a:t>
            </a:r>
            <a:endParaRPr lang="en-US" sz="1600" dirty="0"/>
          </a:p>
        </p:txBody>
      </p:sp>
      <p:sp>
        <p:nvSpPr>
          <p:cNvPr id="5" name="Shape 2"/>
          <p:cNvSpPr/>
          <p:nvPr/>
        </p:nvSpPr>
        <p:spPr>
          <a:xfrm>
            <a:off x="1371600" y="3127248"/>
            <a:ext cx="6400800" cy="22860"/>
          </a:xfrm>
          <a:prstGeom prst="rect">
            <a:avLst/>
          </a:prstGeom>
          <a:solidFill>
            <a:srgbClr val="C08080"/>
          </a:solidFill>
          <a:ln w="12700">
            <a:solidFill>
              <a:srgbClr val="C08080"/>
            </a:solidFill>
            <a:prstDash val="solid"/>
          </a:ln>
        </p:spPr>
        <p:txBody>
          <a:bodyPr/>
          <a:lstStyle/>
          <a:p>
            <a:endParaRPr lang="en-US"/>
          </a:p>
        </p:txBody>
      </p:sp>
      <p:sp>
        <p:nvSpPr>
          <p:cNvPr id="6" name="Shape 3"/>
          <p:cNvSpPr/>
          <p:nvPr/>
        </p:nvSpPr>
        <p:spPr>
          <a:xfrm>
            <a:off x="1371600"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7" name="Text 4"/>
          <p:cNvSpPr/>
          <p:nvPr/>
        </p:nvSpPr>
        <p:spPr>
          <a:xfrm>
            <a:off x="1371600"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Docker Containerization</a:t>
            </a:r>
            <a:endParaRPr lang="en-US" sz="850" dirty="0"/>
          </a:p>
        </p:txBody>
      </p:sp>
      <p:sp>
        <p:nvSpPr>
          <p:cNvPr id="8" name="Shape 5"/>
          <p:cNvSpPr/>
          <p:nvPr/>
        </p:nvSpPr>
        <p:spPr>
          <a:xfrm>
            <a:off x="2980944"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9" name="Text 6"/>
          <p:cNvSpPr/>
          <p:nvPr/>
        </p:nvSpPr>
        <p:spPr>
          <a:xfrm>
            <a:off x="2980944"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Azure Container Apps</a:t>
            </a:r>
            <a:endParaRPr lang="en-US" sz="850" dirty="0"/>
          </a:p>
        </p:txBody>
      </p:sp>
      <p:sp>
        <p:nvSpPr>
          <p:cNvPr id="10" name="Shape 7"/>
          <p:cNvSpPr/>
          <p:nvPr/>
        </p:nvSpPr>
        <p:spPr>
          <a:xfrm>
            <a:off x="4590288"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11" name="Text 8"/>
          <p:cNvSpPr/>
          <p:nvPr/>
        </p:nvSpPr>
        <p:spPr>
          <a:xfrm>
            <a:off x="4590288"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SHAP Explainability API</a:t>
            </a:r>
            <a:endParaRPr lang="en-US" sz="850" dirty="0"/>
          </a:p>
        </p:txBody>
      </p:sp>
      <p:sp>
        <p:nvSpPr>
          <p:cNvPr id="12" name="Shape 9"/>
          <p:cNvSpPr/>
          <p:nvPr/>
        </p:nvSpPr>
        <p:spPr>
          <a:xfrm>
            <a:off x="6199632"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13" name="Text 10"/>
          <p:cNvSpPr/>
          <p:nvPr/>
        </p:nvSpPr>
        <p:spPr>
          <a:xfrm>
            <a:off x="6199632"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Locust Load Testing</a:t>
            </a:r>
            <a:endParaRPr lang="en-US" sz="850" dirty="0"/>
          </a:p>
        </p:txBody>
      </p:sp>
      <p:sp>
        <p:nvSpPr>
          <p:cNvPr id="14" name="Text 11"/>
          <p:cNvSpPr/>
          <p:nvPr/>
        </p:nvSpPr>
        <p:spPr>
          <a:xfrm>
            <a:off x="914400" y="3794760"/>
            <a:ext cx="7315200" cy="274320"/>
          </a:xfrm>
          <a:prstGeom prst="rect">
            <a:avLst/>
          </a:prstGeom>
          <a:noFill/>
          <a:ln/>
        </p:spPr>
        <p:txBody>
          <a:bodyPr wrap="square" rtlCol="0" anchor="ctr"/>
          <a:lstStyle/>
          <a:p>
            <a:pPr marL="0" indent="0" algn="ctr">
              <a:buNone/>
            </a:pPr>
            <a:r>
              <a:rPr lang="en-US" sz="900" dirty="0">
                <a:solidFill>
                  <a:srgbClr val="E8C0C0"/>
                </a:solidFill>
                <a:latin typeface="Courier New" pitchFamily="34" charset="0"/>
                <a:ea typeface="Courier New" pitchFamily="34" charset="-122"/>
                <a:cs typeface="Courier New" pitchFamily="34" charset="-120"/>
              </a:rPr>
              <a:t>Live URL: heart-disease-dashboard.gentlemoss-1b6edc24.eastus.azurecontainerapps.io</a:t>
            </a:r>
            <a:endParaRPr lang="en-US" sz="900" dirty="0"/>
          </a:p>
        </p:txBody>
      </p:sp>
      <p:sp>
        <p:nvSpPr>
          <p:cNvPr id="15" name="Text 12"/>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C08080"/>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3475</Words>
  <Application>Microsoft Office PowerPoint</Application>
  <PresentationFormat>On-screen Show (16:9)</PresentationFormat>
  <Paragraphs>236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Analyzer — Final Presentation</dc:title>
  <dc:subject>PptxGenJS Presentation</dc:subject>
  <dc:creator>PptxGenJS</dc:creator>
  <cp:lastModifiedBy>Cyron Trazona</cp:lastModifiedBy>
  <cp:revision>1</cp:revision>
  <dcterms:created xsi:type="dcterms:W3CDTF">2026-04-16T03:50:00Z</dcterms:created>
  <dcterms:modified xsi:type="dcterms:W3CDTF">2026-04-16T14:08:51Z</dcterms:modified>
</cp:coreProperties>
</file>