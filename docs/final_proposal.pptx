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3" r:id="rId5"/>
    <p:sldId id="259" r:id="rId6"/>
    <p:sldId id="260" r:id="rId7"/>
    <p:sldId id="261" r:id="rId8"/>
    <p:sldId id="264" r:id="rId9"/>
    <p:sldId id="262"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30DD83-2BC1-4AE4-8DDF-BDB044C34CE7}" v="26" dt="2026-03-12T14:51:26.2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2010" autoAdjust="0"/>
  </p:normalViewPr>
  <p:slideViewPr>
    <p:cSldViewPr snapToGrid="0" snapToObjects="1">
      <p:cViewPr varScale="1">
        <p:scale>
          <a:sx n="57" d="100"/>
          <a:sy n="57" d="100"/>
        </p:scale>
        <p:origin x="2194"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yron Trazona" userId="26bc86c50c6faf1a" providerId="LiveId" clId="{BC940942-95FA-4841-B364-CAC340571D83}"/>
    <pc:docChg chg="custSel addSld delSld modSld">
      <pc:chgData name="Cyron Trazona" userId="26bc86c50c6faf1a" providerId="LiveId" clId="{BC940942-95FA-4841-B364-CAC340571D83}" dt="2026-03-12T14:41:07.127" v="1025" actId="20577"/>
      <pc:docMkLst>
        <pc:docMk/>
      </pc:docMkLst>
      <pc:sldChg chg="modSp mod modNotesTx">
        <pc:chgData name="Cyron Trazona" userId="26bc86c50c6faf1a" providerId="LiveId" clId="{BC940942-95FA-4841-B364-CAC340571D83}" dt="2026-03-12T03:42:02.375" v="665" actId="20577"/>
        <pc:sldMkLst>
          <pc:docMk/>
          <pc:sldMk cId="0" sldId="256"/>
        </pc:sldMkLst>
        <pc:spChg chg="mod">
          <ac:chgData name="Cyron Trazona" userId="26bc86c50c6faf1a" providerId="LiveId" clId="{BC940942-95FA-4841-B364-CAC340571D83}" dt="2026-03-11T16:39:33.663" v="0" actId="20577"/>
          <ac:spMkLst>
            <pc:docMk/>
            <pc:sldMk cId="0" sldId="256"/>
            <ac:spMk id="8" creationId="{00000000-0000-0000-0000-000000000000}"/>
          </ac:spMkLst>
        </pc:spChg>
      </pc:sldChg>
      <pc:sldChg chg="modSp mod modNotesTx">
        <pc:chgData name="Cyron Trazona" userId="26bc86c50c6faf1a" providerId="LiveId" clId="{BC940942-95FA-4841-B364-CAC340571D83}" dt="2026-03-12T14:41:07.127" v="1025" actId="20577"/>
        <pc:sldMkLst>
          <pc:docMk/>
          <pc:sldMk cId="0" sldId="257"/>
        </pc:sldMkLst>
        <pc:spChg chg="mod">
          <ac:chgData name="Cyron Trazona" userId="26bc86c50c6faf1a" providerId="LiveId" clId="{BC940942-95FA-4841-B364-CAC340571D83}" dt="2026-03-11T16:39:44.267" v="4" actId="20577"/>
          <ac:spMkLst>
            <pc:docMk/>
            <pc:sldMk cId="0" sldId="257"/>
            <ac:spMk id="15" creationId="{00000000-0000-0000-0000-000000000000}"/>
          </ac:spMkLst>
        </pc:spChg>
      </pc:sldChg>
      <pc:sldChg chg="modSp mod modNotesTx">
        <pc:chgData name="Cyron Trazona" userId="26bc86c50c6faf1a" providerId="LiveId" clId="{BC940942-95FA-4841-B364-CAC340571D83}" dt="2026-03-12T03:35:22.984" v="652" actId="6549"/>
        <pc:sldMkLst>
          <pc:docMk/>
          <pc:sldMk cId="0" sldId="258"/>
        </pc:sldMkLst>
        <pc:spChg chg="mod">
          <ac:chgData name="Cyron Trazona" userId="26bc86c50c6faf1a" providerId="LiveId" clId="{BC940942-95FA-4841-B364-CAC340571D83}" dt="2026-03-11T16:40:00.326" v="16" actId="20577"/>
          <ac:spMkLst>
            <pc:docMk/>
            <pc:sldMk cId="0" sldId="258"/>
            <ac:spMk id="10" creationId="{00000000-0000-0000-0000-000000000000}"/>
          </ac:spMkLst>
        </pc:spChg>
        <pc:spChg chg="mod">
          <ac:chgData name="Cyron Trazona" userId="26bc86c50c6faf1a" providerId="LiveId" clId="{BC940942-95FA-4841-B364-CAC340571D83}" dt="2026-03-11T16:40:20.624" v="41" actId="20577"/>
          <ac:spMkLst>
            <pc:docMk/>
            <pc:sldMk cId="0" sldId="258"/>
            <ac:spMk id="20" creationId="{00000000-0000-0000-0000-000000000000}"/>
          </ac:spMkLst>
        </pc:spChg>
      </pc:sldChg>
      <pc:sldChg chg="modSp mod modNotesTx">
        <pc:chgData name="Cyron Trazona" userId="26bc86c50c6faf1a" providerId="LiveId" clId="{BC940942-95FA-4841-B364-CAC340571D83}" dt="2026-03-12T03:48:03.967" v="682" actId="20577"/>
        <pc:sldMkLst>
          <pc:docMk/>
          <pc:sldMk cId="0" sldId="259"/>
        </pc:sldMkLst>
        <pc:spChg chg="mod">
          <ac:chgData name="Cyron Trazona" userId="26bc86c50c6faf1a" providerId="LiveId" clId="{BC940942-95FA-4841-B364-CAC340571D83}" dt="2026-03-12T03:48:03.967" v="682" actId="20577"/>
          <ac:spMkLst>
            <pc:docMk/>
            <pc:sldMk cId="0" sldId="259"/>
            <ac:spMk id="7" creationId="{00000000-0000-0000-0000-000000000000}"/>
          </ac:spMkLst>
        </pc:spChg>
        <pc:spChg chg="mod">
          <ac:chgData name="Cyron Trazona" userId="26bc86c50c6faf1a" providerId="LiveId" clId="{BC940942-95FA-4841-B364-CAC340571D83}" dt="2026-03-11T16:40:39.282" v="43" actId="20577"/>
          <ac:spMkLst>
            <pc:docMk/>
            <pc:sldMk cId="0" sldId="259"/>
            <ac:spMk id="37" creationId="{00000000-0000-0000-0000-000000000000}"/>
          </ac:spMkLst>
        </pc:spChg>
      </pc:sldChg>
      <pc:sldChg chg="modSp mod modNotesTx">
        <pc:chgData name="Cyron Trazona" userId="26bc86c50c6faf1a" providerId="LiveId" clId="{BC940942-95FA-4841-B364-CAC340571D83}" dt="2026-03-12T14:24:22.517" v="860" actId="20577"/>
        <pc:sldMkLst>
          <pc:docMk/>
          <pc:sldMk cId="0" sldId="260"/>
        </pc:sldMkLst>
        <pc:spChg chg="mod">
          <ac:chgData name="Cyron Trazona" userId="26bc86c50c6faf1a" providerId="LiveId" clId="{BC940942-95FA-4841-B364-CAC340571D83}" dt="2026-03-11T16:40:52.844" v="53" actId="20577"/>
          <ac:spMkLst>
            <pc:docMk/>
            <pc:sldMk cId="0" sldId="260"/>
            <ac:spMk id="20" creationId="{00000000-0000-0000-0000-000000000000}"/>
          </ac:spMkLst>
        </pc:spChg>
      </pc:sldChg>
      <pc:sldChg chg="modNotesTx">
        <pc:chgData name="Cyron Trazona" userId="26bc86c50c6faf1a" providerId="LiveId" clId="{BC940942-95FA-4841-B364-CAC340571D83}" dt="2026-03-12T03:34:16.694" v="604" actId="20577"/>
        <pc:sldMkLst>
          <pc:docMk/>
          <pc:sldMk cId="0" sldId="261"/>
        </pc:sldMkLst>
      </pc:sldChg>
      <pc:sldChg chg="delSp modSp mod modNotesTx">
        <pc:chgData name="Cyron Trazona" userId="26bc86c50c6faf1a" providerId="LiveId" clId="{BC940942-95FA-4841-B364-CAC340571D83}" dt="2026-03-12T03:43:49.107" v="678" actId="20577"/>
        <pc:sldMkLst>
          <pc:docMk/>
          <pc:sldMk cId="0" sldId="262"/>
        </pc:sldMkLst>
        <pc:spChg chg="del">
          <ac:chgData name="Cyron Trazona" userId="26bc86c50c6faf1a" providerId="LiveId" clId="{BC940942-95FA-4841-B364-CAC340571D83}" dt="2026-03-12T03:42:40.034" v="668" actId="478"/>
          <ac:spMkLst>
            <pc:docMk/>
            <pc:sldMk cId="0" sldId="262"/>
            <ac:spMk id="7" creationId="{00000000-0000-0000-0000-000000000000}"/>
          </ac:spMkLst>
        </pc:spChg>
        <pc:spChg chg="mod">
          <ac:chgData name="Cyron Trazona" userId="26bc86c50c6faf1a" providerId="LiveId" clId="{BC940942-95FA-4841-B364-CAC340571D83}" dt="2026-03-12T03:42:48.649" v="672" actId="6549"/>
          <ac:spMkLst>
            <pc:docMk/>
            <pc:sldMk cId="0" sldId="262"/>
            <ac:spMk id="8" creationId="{00000000-0000-0000-0000-000000000000}"/>
          </ac:spMkLst>
        </pc:spChg>
        <pc:spChg chg="del">
          <ac:chgData name="Cyron Trazona" userId="26bc86c50c6faf1a" providerId="LiveId" clId="{BC940942-95FA-4841-B364-CAC340571D83}" dt="2026-03-12T03:42:41.052" v="669" actId="478"/>
          <ac:spMkLst>
            <pc:docMk/>
            <pc:sldMk cId="0" sldId="262"/>
            <ac:spMk id="9" creationId="{00000000-0000-0000-0000-000000000000}"/>
          </ac:spMkLst>
        </pc:spChg>
        <pc:spChg chg="mod">
          <ac:chgData name="Cyron Trazona" userId="26bc86c50c6faf1a" providerId="LiveId" clId="{BC940942-95FA-4841-B364-CAC340571D83}" dt="2026-03-12T03:42:46.940" v="671" actId="6549"/>
          <ac:spMkLst>
            <pc:docMk/>
            <pc:sldMk cId="0" sldId="262"/>
            <ac:spMk id="10" creationId="{00000000-0000-0000-0000-000000000000}"/>
          </ac:spMkLst>
        </pc:spChg>
        <pc:spChg chg="del">
          <ac:chgData name="Cyron Trazona" userId="26bc86c50c6faf1a" providerId="LiveId" clId="{BC940942-95FA-4841-B364-CAC340571D83}" dt="2026-03-12T03:42:49.624" v="673" actId="478"/>
          <ac:spMkLst>
            <pc:docMk/>
            <pc:sldMk cId="0" sldId="262"/>
            <ac:spMk id="11" creationId="{00000000-0000-0000-0000-000000000000}"/>
          </ac:spMkLst>
        </pc:spChg>
        <pc:spChg chg="mod">
          <ac:chgData name="Cyron Trazona" userId="26bc86c50c6faf1a" providerId="LiveId" clId="{BC940942-95FA-4841-B364-CAC340571D83}" dt="2026-03-12T03:42:44.735" v="670" actId="6549"/>
          <ac:spMkLst>
            <pc:docMk/>
            <pc:sldMk cId="0" sldId="262"/>
            <ac:spMk id="12" creationId="{00000000-0000-0000-0000-000000000000}"/>
          </ac:spMkLst>
        </pc:spChg>
        <pc:spChg chg="del">
          <ac:chgData name="Cyron Trazona" userId="26bc86c50c6faf1a" providerId="LiveId" clId="{BC940942-95FA-4841-B364-CAC340571D83}" dt="2026-03-12T03:42:50.209" v="674" actId="478"/>
          <ac:spMkLst>
            <pc:docMk/>
            <pc:sldMk cId="0" sldId="262"/>
            <ac:spMk id="13" creationId="{00000000-0000-0000-0000-000000000000}"/>
          </ac:spMkLst>
        </pc:spChg>
        <pc:spChg chg="mod">
          <ac:chgData name="Cyron Trazona" userId="26bc86c50c6faf1a" providerId="LiveId" clId="{BC940942-95FA-4841-B364-CAC340571D83}" dt="2026-03-12T03:42:53.693" v="675" actId="6549"/>
          <ac:spMkLst>
            <pc:docMk/>
            <pc:sldMk cId="0" sldId="262"/>
            <ac:spMk id="14" creationId="{00000000-0000-0000-0000-000000000000}"/>
          </ac:spMkLst>
        </pc:spChg>
      </pc:sldChg>
      <pc:sldChg chg="modNotesTx">
        <pc:chgData name="Cyron Trazona" userId="26bc86c50c6faf1a" providerId="LiveId" clId="{BC940942-95FA-4841-B364-CAC340571D83}" dt="2026-03-12T03:22:17.886" v="229" actId="20577"/>
        <pc:sldMkLst>
          <pc:docMk/>
          <pc:sldMk cId="0" sldId="263"/>
        </pc:sldMkLst>
      </pc:sldChg>
      <pc:sldChg chg="add setBg modNotesTx">
        <pc:chgData name="Cyron Trazona" userId="26bc86c50c6faf1a" providerId="LiveId" clId="{BC940942-95FA-4841-B364-CAC340571D83}" dt="2026-03-12T14:26:09.434" v="969" actId="20577"/>
        <pc:sldMkLst>
          <pc:docMk/>
          <pc:sldMk cId="0" sldId="264"/>
        </pc:sldMkLst>
      </pc:sldChg>
      <pc:sldChg chg="add del setBg">
        <pc:chgData name="Cyron Trazona" userId="26bc86c50c6faf1a" providerId="LiveId" clId="{BC940942-95FA-4841-B364-CAC340571D83}" dt="2026-03-12T14:10:17.389" v="685" actId="47"/>
        <pc:sldMkLst>
          <pc:docMk/>
          <pc:sldMk cId="0"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7182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"Today I'm presenting my project for the Cloud Computing course — a heart disease risk analyzer. The idea is to build a web application that lets a patient enter their health data, get a risk score, and actually understand what's driving that risk. I'll walk through the problem it's solving, what the system looks like, and how I plan to build and deploy it over the semester."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"Heart disease is the number one cause of death in the United States. Does anyone know the number 1 treatment for heart disease? It’s prevention! </a:t>
            </a:r>
            <a:r>
              <a:rPr lang="en-US" sz="1200" b="0" i="0" kern="1200" dirty="0">
                <a:solidFill>
                  <a:schemeClr val="tx1"/>
                </a:solidFill>
                <a:effectLst/>
                <a:latin typeface="+mn-lt"/>
                <a:ea typeface="+mn-ea"/>
                <a:cs typeface="+mn-cs"/>
              </a:rPr>
              <a:t>roughly 80% of cardiovascular diseases considered preventable through lifestyle adjustments. </a:t>
            </a:r>
            <a:r>
              <a:rPr lang="en-US" sz="1200" kern="1200" dirty="0">
                <a:solidFill>
                  <a:schemeClr val="tx1"/>
                </a:solidFill>
                <a:effectLst/>
                <a:latin typeface="+mn-lt"/>
                <a:ea typeface="+mn-ea"/>
                <a:cs typeface="+mn-cs"/>
              </a:rPr>
              <a:t>But most people don't know their risk until they're sitting in a doctor's office and even then, the tools doctors use aren't designed for patients. Most doctors don’t even consider risk unless the patient is presenting symptoms which usually present as a heart attack or stroke. </a:t>
            </a:r>
            <a:r>
              <a:rPr lang="en-US" dirty="0"/>
              <a:t>Even if you find a risk calculator online, it gives you a percentage and nothing else. You don't know if it's your age, your cholesterol, your blood pressure, you just get a number and you're left to figure out what to do with it. </a:t>
            </a:r>
            <a:r>
              <a:rPr lang="en-US" sz="1200" kern="1200" dirty="0">
                <a:solidFill>
                  <a:schemeClr val="tx1"/>
                </a:solidFill>
                <a:effectLst/>
                <a:latin typeface="+mn-lt"/>
                <a:ea typeface="+mn-ea"/>
                <a:cs typeface="+mn-cs"/>
              </a:rPr>
              <a:t>I’m trying to fill the gap with a tool that's accessible to anyone, gives a clear risk score, and actually explains what's behind it in plain language."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"My solution is a web app with four main goals. First, I'll train multiple machine learning models on real patient data and pick the best one based on accuracy metrics. Second, that model gets deployed as an API — a service that the frontend can call over the internet — which is where the cloud part comes in. Third, I'll use something called SHAP analysis to explain each prediction. SHAP stands for </a:t>
            </a:r>
            <a:r>
              <a:rPr lang="en-US" sz="1200" kern="1200" dirty="0" err="1">
                <a:solidFill>
                  <a:schemeClr val="tx1"/>
                </a:solidFill>
                <a:effectLst/>
                <a:latin typeface="+mn-lt"/>
                <a:ea typeface="+mn-ea"/>
                <a:cs typeface="+mn-cs"/>
              </a:rPr>
              <a:t>SHapley</a:t>
            </a:r>
            <a:r>
              <a:rPr lang="en-US" sz="1200" kern="1200" dirty="0">
                <a:solidFill>
                  <a:schemeClr val="tx1"/>
                </a:solidFill>
                <a:effectLst/>
                <a:latin typeface="+mn-lt"/>
                <a:ea typeface="+mn-ea"/>
                <a:cs typeface="+mn-cs"/>
              </a:rPr>
              <a:t> Additive </a:t>
            </a:r>
            <a:r>
              <a:rPr lang="en-US" sz="1200" kern="1200" dirty="0" err="1">
                <a:solidFill>
                  <a:schemeClr val="tx1"/>
                </a:solidFill>
                <a:effectLst/>
                <a:latin typeface="+mn-lt"/>
                <a:ea typeface="+mn-ea"/>
                <a:cs typeface="+mn-cs"/>
              </a:rPr>
              <a:t>exPlanations</a:t>
            </a:r>
            <a:r>
              <a:rPr lang="en-US" sz="1200" kern="1200" dirty="0">
                <a:solidFill>
                  <a:schemeClr val="tx1"/>
                </a:solidFill>
                <a:effectLst/>
                <a:latin typeface="+mn-lt"/>
                <a:ea typeface="+mn-ea"/>
                <a:cs typeface="+mn-cs"/>
              </a:rPr>
              <a:t>. In simple terms, it looks at each of your health metrics and tells you how much each one contributed to your risk score, positive or negative. That drives the personalized recommendations you'll see in the dashboard. </a:t>
            </a:r>
            <a:r>
              <a:rPr lang="en-US" dirty="0"/>
              <a:t>"Fourth, the model gets packaged into a Docker container and deployed to Azure, and I'll run load tests to measure how it performs under real concurrent traffic."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sz="1200" kern="1200" dirty="0">
                <a:solidFill>
                  <a:schemeClr val="tx1"/>
                </a:solidFill>
                <a:effectLst/>
                <a:latin typeface="+mn-lt"/>
                <a:ea typeface="+mn-ea"/>
                <a:cs typeface="+mn-cs"/>
              </a:rPr>
              <a:t>"This is the actual working prototype. On the left, you can see the patient enters their health metrics in the sidebar  age, cholesterol, blood pressure, etc. They get back a gauge showing their risk percentage and how their key vitals compare to clinical thresholds. On the right is the SHAP chart each bar shows one health metric, red means it's pushing your risk up, green means it's helping bring it down. The bigger the bar, the more impact that metric has. Below that are personalized recommendations based on whichever factors are highest. So if your cholesterol is the biggest red bar, that's what the recommendation targets."</a:t>
            </a:r>
          </a:p>
          <a:p>
            <a:endParaRPr lang="en-US" dirty="0"/>
          </a:p>
        </p:txBody>
      </p:sp>
    </p:spTree>
    <p:extLst>
      <p:ext uri="{BB962C8B-B14F-4D97-AF65-F5344CB8AC3E}">
        <p14:creationId xmlns:p14="http://schemas.microsoft.com/office/powerpoint/2010/main" val="3835942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I'm using is the UCI Heart Disease dataset available on Kaggle. I'll train three different models —if needed, applying SMOTE to balance the training data first. I'll compare them using standard metrics like AUC-ROC and F1 score, evaluated with stratified 5-fold cross-validation. Once I have the best model, I'll use SHAP's </a:t>
            </a:r>
            <a:r>
              <a:rPr lang="en-US" dirty="0" err="1"/>
              <a:t>TreeExplainer</a:t>
            </a:r>
            <a:r>
              <a:rPr lang="en-US" dirty="0"/>
              <a:t> to generate feature attribution values for each prediction."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frontend is a </a:t>
            </a:r>
            <a:r>
              <a:rPr lang="en-US" sz="1200" kern="1200" dirty="0" err="1">
                <a:solidFill>
                  <a:schemeClr val="tx1"/>
                </a:solidFill>
                <a:effectLst/>
                <a:latin typeface="+mn-lt"/>
                <a:ea typeface="+mn-ea"/>
                <a:cs typeface="+mn-cs"/>
              </a:rPr>
              <a:t>Streamlit</a:t>
            </a:r>
            <a:r>
              <a:rPr lang="en-US" sz="1200" kern="1200" dirty="0">
                <a:solidFill>
                  <a:schemeClr val="tx1"/>
                </a:solidFill>
                <a:effectLst/>
                <a:latin typeface="+mn-lt"/>
                <a:ea typeface="+mn-ea"/>
                <a:cs typeface="+mn-cs"/>
              </a:rPr>
              <a:t> app that's what the patient sees and interacts with. </a:t>
            </a:r>
            <a:r>
              <a:rPr lang="en-US" dirty="0"/>
              <a:t>So the patient opens the </a:t>
            </a:r>
            <a:r>
              <a:rPr lang="en-US" dirty="0" err="1"/>
              <a:t>Streamlit</a:t>
            </a:r>
            <a:r>
              <a:rPr lang="en-US" dirty="0"/>
              <a:t> frontend, enters their data, hits the button. That triggers a POST request to the </a:t>
            </a:r>
            <a:r>
              <a:rPr lang="en-US" dirty="0" err="1"/>
              <a:t>FastAPI</a:t>
            </a:r>
            <a:r>
              <a:rPr lang="en-US" dirty="0"/>
              <a:t> backend running on Azure. The backend loads the model, runs the prediction, computes the SHAP values, and sends everything back as a JSON response. </a:t>
            </a:r>
            <a:r>
              <a:rPr lang="en-US" dirty="0" err="1"/>
              <a:t>Streamlit</a:t>
            </a:r>
            <a:r>
              <a:rPr lang="en-US" dirty="0"/>
              <a:t> then renders the gauge, the chart, and the recommendations from that response. </a:t>
            </a:r>
            <a:r>
              <a:rPr lang="en-US" sz="1200" kern="1200" dirty="0">
                <a:solidFill>
                  <a:schemeClr val="tx1"/>
                </a:solidFill>
                <a:effectLst/>
                <a:latin typeface="+mn-lt"/>
                <a:ea typeface="+mn-ea"/>
                <a:cs typeface="+mn-cs"/>
              </a:rPr>
              <a:t>Separating them this way means the model logic lives in the cloud independently of the interface. considered serverless but cold start would be slow because ml model has to load. The backend is containerized using Docker and deployed to Azure App Service. Then I'll use Locust to simulate 10, 50, and 100 users hitting the API at the same time, and measure things like response time and how many requests it can handle per second.“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plan runs across six weeks. The first two weeks are data prep and training all three models. Week three is evaluation picking the winner and getting the SHAP output working correctly. Week four is building the API backend and the </a:t>
            </a:r>
            <a:r>
              <a:rPr lang="en-US" sz="1200" kern="1200" dirty="0" err="1">
                <a:solidFill>
                  <a:schemeClr val="tx1"/>
                </a:solidFill>
                <a:effectLst/>
                <a:latin typeface="+mn-lt"/>
                <a:ea typeface="+mn-ea"/>
                <a:cs typeface="+mn-cs"/>
              </a:rPr>
              <a:t>Streamlit</a:t>
            </a:r>
            <a:r>
              <a:rPr lang="en-US" sz="1200" kern="1200" dirty="0">
                <a:solidFill>
                  <a:schemeClr val="tx1"/>
                </a:solidFill>
                <a:effectLst/>
                <a:latin typeface="+mn-lt"/>
                <a:ea typeface="+mn-ea"/>
                <a:cs typeface="+mn-cs"/>
              </a:rPr>
              <a:t> dashboard and connecting them together locally. Week five is the cloud week packaging everything into Docker, deploying to Azure, and running the Locust load tests. Week six is writing the report and putting together the final presentation. I front-load the ML work to make sure the model is fully figured out before I touch deployment."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Integrate into patient access portals like my chart. Could set up manual data pull if integrated. </a:t>
            </a:r>
            <a:r>
              <a:rPr lang="en-US"/>
              <a:t>Automated retraining could be implemented using Azure Machine Learning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summarize — this project is a cloud-deployed ML inference system built on a microservices architecture. It covers container-based virtualization through Docker, cloud resource management through Azure App Service, and performance evaluation through Locust load testing — all core topics from this course. The ML component with SHAP explainability adds a meaningful application layer on top. I'm happy to take questions."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B0000"/>
        </a:solidFill>
        <a:effectLst/>
      </p:bgPr>
    </p:bg>
    <p:spTree>
      <p:nvGrpSpPr>
        <p:cNvPr id="1" name=""/>
        <p:cNvGrpSpPr/>
        <p:nvPr/>
      </p:nvGrpSpPr>
      <p:grpSpPr>
        <a:xfrm>
          <a:off x="0" y="0"/>
          <a:ext cx="0" cy="0"/>
          <a:chOff x="0" y="0"/>
          <a:chExt cx="0" cy="0"/>
        </a:xfrm>
      </p:grpSpPr>
      <p:sp>
        <p:nvSpPr>
          <p:cNvPr id="2" name="Shape 0"/>
          <p:cNvSpPr/>
          <p:nvPr/>
        </p:nvSpPr>
        <p:spPr>
          <a:xfrm>
            <a:off x="7132320" y="-731520"/>
            <a:ext cx="3200400" cy="3200400"/>
          </a:xfrm>
          <a:prstGeom prst="ellipse">
            <a:avLst/>
          </a:prstGeom>
          <a:solidFill>
            <a:srgbClr val="A00000">
              <a:alpha val="40000"/>
            </a:srgbClr>
          </a:solidFill>
          <a:ln w="12700">
            <a:solidFill>
              <a:srgbClr val="A00000">
                <a:alpha val="40000"/>
              </a:srgbClr>
            </a:solidFill>
            <a:prstDash val="solid"/>
          </a:ln>
        </p:spPr>
        <p:txBody>
          <a:bodyPr/>
          <a:lstStyle/>
          <a:p>
            <a:endParaRPr lang="en-US"/>
          </a:p>
        </p:txBody>
      </p:sp>
      <p:sp>
        <p:nvSpPr>
          <p:cNvPr id="3" name="Shape 1"/>
          <p:cNvSpPr/>
          <p:nvPr/>
        </p:nvSpPr>
        <p:spPr>
          <a:xfrm>
            <a:off x="-731520" y="2926080"/>
            <a:ext cx="2286000" cy="2286000"/>
          </a:xfrm>
          <a:prstGeom prst="ellipse">
            <a:avLst/>
          </a:prstGeom>
          <a:solidFill>
            <a:srgbClr val="A00000">
              <a:alpha val="40000"/>
            </a:srgbClr>
          </a:solidFill>
          <a:ln w="12700">
            <a:solidFill>
              <a:srgbClr val="A00000">
                <a:alpha val="40000"/>
              </a:srgbClr>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1280160"/>
            <a:ext cx="640080" cy="640080"/>
          </a:xfrm>
          <a:prstGeom prst="rect">
            <a:avLst/>
          </a:prstGeom>
        </p:spPr>
      </p:pic>
      <p:sp>
        <p:nvSpPr>
          <p:cNvPr id="5" name="Text 2"/>
          <p:cNvSpPr/>
          <p:nvPr/>
        </p:nvSpPr>
        <p:spPr>
          <a:xfrm>
            <a:off x="1280160" y="1188720"/>
            <a:ext cx="7132320" cy="77724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Heart Disease Risk Analyzer</a:t>
            </a:r>
            <a:endParaRPr lang="en-US" sz="3600" dirty="0"/>
          </a:p>
        </p:txBody>
      </p:sp>
      <p:sp>
        <p:nvSpPr>
          <p:cNvPr id="6" name="Text 3"/>
          <p:cNvSpPr/>
          <p:nvPr/>
        </p:nvSpPr>
        <p:spPr>
          <a:xfrm>
            <a:off x="1280160" y="1965960"/>
            <a:ext cx="7132320" cy="457200"/>
          </a:xfrm>
          <a:prstGeom prst="rect">
            <a:avLst/>
          </a:prstGeom>
          <a:noFill/>
          <a:ln/>
        </p:spPr>
        <p:txBody>
          <a:bodyPr wrap="square" lIns="0" tIns="0" rIns="0" bIns="0" rtlCol="0" anchor="ctr"/>
          <a:lstStyle/>
          <a:p>
            <a:pPr marL="0" indent="0">
              <a:buNone/>
            </a:pPr>
            <a:r>
              <a:rPr lang="en-US" sz="1500" dirty="0">
                <a:solidFill>
                  <a:srgbClr val="E8A0A0"/>
                </a:solidFill>
                <a:latin typeface="Calibri" pitchFamily="34" charset="0"/>
                <a:ea typeface="Calibri" pitchFamily="34" charset="-122"/>
                <a:cs typeface="Calibri" pitchFamily="34" charset="-120"/>
              </a:rPr>
              <a:t>Containerized ML Microservice on Azure · REST API · Load-Tested at Scale</a:t>
            </a:r>
            <a:endParaRPr lang="en-US" sz="1500" dirty="0"/>
          </a:p>
        </p:txBody>
      </p:sp>
      <p:sp>
        <p:nvSpPr>
          <p:cNvPr id="7" name="Shape 4"/>
          <p:cNvSpPr/>
          <p:nvPr/>
        </p:nvSpPr>
        <p:spPr>
          <a:xfrm>
            <a:off x="502920" y="2578608"/>
            <a:ext cx="2743200" cy="36576"/>
          </a:xfrm>
          <a:prstGeom prst="rect">
            <a:avLst/>
          </a:prstGeom>
          <a:solidFill>
            <a:srgbClr val="E8A0A0"/>
          </a:solidFill>
          <a:ln w="12700">
            <a:solidFill>
              <a:srgbClr val="E8A0A0"/>
            </a:solidFill>
            <a:prstDash val="solid"/>
          </a:ln>
        </p:spPr>
        <p:txBody>
          <a:bodyPr/>
          <a:lstStyle/>
          <a:p>
            <a:endParaRPr lang="en-US"/>
          </a:p>
        </p:txBody>
      </p:sp>
      <p:sp>
        <p:nvSpPr>
          <p:cNvPr id="8" name="Text 5"/>
          <p:cNvSpPr/>
          <p:nvPr/>
        </p:nvSpPr>
        <p:spPr>
          <a:xfrm>
            <a:off x="502920" y="2788920"/>
            <a:ext cx="7315200" cy="320040"/>
          </a:xfrm>
          <a:prstGeom prst="rect">
            <a:avLst/>
          </a:prstGeom>
          <a:noFill/>
          <a:ln/>
        </p:spPr>
        <p:txBody>
          <a:bodyPr wrap="square" lIns="0" tIns="0" rIns="0" bIns="0" rtlCol="0" anchor="ctr"/>
          <a:lstStyle/>
          <a:p>
            <a:pPr marL="0" indent="0">
              <a:buNone/>
            </a:pPr>
            <a:r>
              <a:rPr lang="en-US" sz="1200" dirty="0">
                <a:solidFill>
                  <a:srgbClr val="D4A0A0"/>
                </a:solidFill>
                <a:latin typeface="Calibri" pitchFamily="34" charset="0"/>
                <a:ea typeface="Calibri" pitchFamily="34" charset="-122"/>
                <a:cs typeface="Calibri" pitchFamily="34" charset="-120"/>
              </a:rPr>
              <a:t>Cloud Computing  ·  Spring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347472" y="256032"/>
            <a:ext cx="384048" cy="384048"/>
          </a:xfrm>
          <a:prstGeom prst="rect">
            <a:avLst/>
          </a:prstGeom>
        </p:spPr>
      </p:pic>
      <p:sp>
        <p:nvSpPr>
          <p:cNvPr id="4" name="Text 1"/>
          <p:cNvSpPr/>
          <p:nvPr/>
        </p:nvSpPr>
        <p:spPr>
          <a:xfrm>
            <a:off x="822960" y="256032"/>
            <a:ext cx="7315200" cy="411480"/>
          </a:xfrm>
          <a:prstGeom prst="rect">
            <a:avLst/>
          </a:prstGeom>
          <a:noFill/>
          <a:ln/>
        </p:spPr>
        <p:txBody>
          <a:bodyPr wrap="square" lIns="0" tIns="0" rIns="0" bIns="0" rtlCol="0" anchor="ctr"/>
          <a:lstStyle/>
          <a:p>
            <a:pPr marL="0" indent="0">
              <a:buNone/>
            </a:pPr>
            <a:r>
              <a:rPr lang="en-US" sz="2800" b="1" dirty="0">
                <a:solidFill>
                  <a:srgbClr val="8B0000"/>
                </a:solidFill>
                <a:latin typeface="Georgia" pitchFamily="34" charset="0"/>
                <a:ea typeface="Georgia" pitchFamily="34" charset="-122"/>
                <a:cs typeface="Georgia" pitchFamily="34" charset="-120"/>
              </a:rPr>
              <a:t>The Problem</a:t>
            </a:r>
            <a:endParaRPr lang="en-US" sz="2800" dirty="0"/>
          </a:p>
        </p:txBody>
      </p:sp>
      <p:sp>
        <p:nvSpPr>
          <p:cNvPr id="5" name="Shape 2"/>
          <p:cNvSpPr/>
          <p:nvPr/>
        </p:nvSpPr>
        <p:spPr>
          <a:xfrm>
            <a:off x="347472" y="914400"/>
            <a:ext cx="2560320" cy="1828800"/>
          </a:xfrm>
          <a:prstGeom prst="rect">
            <a:avLst/>
          </a:prstGeom>
          <a:solidFill>
            <a:srgbClr val="8B0000"/>
          </a:solidFill>
          <a:ln w="12700">
            <a:solidFill>
              <a:srgbClr val="8B0000"/>
            </a:solidFill>
            <a:prstDash val="solid"/>
          </a:ln>
          <a:effectLst>
            <a:outerShdw blurRad="101600" dist="38100" dir="8100000" algn="bl" rotWithShape="0">
              <a:srgbClr val="000000">
                <a:alpha val="15000"/>
              </a:srgbClr>
            </a:outerShdw>
          </a:effectLst>
        </p:spPr>
        <p:txBody>
          <a:bodyPr/>
          <a:lstStyle/>
          <a:p>
            <a:endParaRPr lang="en-US"/>
          </a:p>
        </p:txBody>
      </p:sp>
      <p:sp>
        <p:nvSpPr>
          <p:cNvPr id="6" name="Text 3"/>
          <p:cNvSpPr/>
          <p:nvPr/>
        </p:nvSpPr>
        <p:spPr>
          <a:xfrm>
            <a:off x="347472" y="960120"/>
            <a:ext cx="2560320" cy="960120"/>
          </a:xfrm>
          <a:prstGeom prst="rect">
            <a:avLst/>
          </a:prstGeom>
          <a:noFill/>
          <a:ln/>
        </p:spPr>
        <p:txBody>
          <a:bodyPr wrap="square" lIns="0" tIns="0" rIns="0" bIns="0" rtlCol="0" anchor="ctr"/>
          <a:lstStyle/>
          <a:p>
            <a:pPr marL="0" indent="0" algn="ctr">
              <a:buNone/>
            </a:pPr>
            <a:r>
              <a:rPr lang="en-US" sz="6000" b="1" dirty="0">
                <a:solidFill>
                  <a:srgbClr val="FFFFFF"/>
                </a:solidFill>
                <a:latin typeface="Georgia" pitchFamily="34" charset="0"/>
                <a:ea typeface="Georgia" pitchFamily="34" charset="-122"/>
                <a:cs typeface="Georgia" pitchFamily="34" charset="-120"/>
              </a:rPr>
              <a:t>#1</a:t>
            </a:r>
            <a:endParaRPr lang="en-US" sz="6000" dirty="0"/>
          </a:p>
        </p:txBody>
      </p:sp>
      <p:sp>
        <p:nvSpPr>
          <p:cNvPr id="7" name="Text 4"/>
          <p:cNvSpPr/>
          <p:nvPr/>
        </p:nvSpPr>
        <p:spPr>
          <a:xfrm>
            <a:off x="347472" y="1920240"/>
            <a:ext cx="2560320" cy="731520"/>
          </a:xfrm>
          <a:prstGeom prst="rect">
            <a:avLst/>
          </a:prstGeom>
          <a:noFill/>
          <a:ln/>
        </p:spPr>
        <p:txBody>
          <a:bodyPr wrap="square" lIns="0" tIns="0" rIns="0" bIns="0" rtlCol="0" anchor="ctr"/>
          <a:lstStyle/>
          <a:p>
            <a:pPr marL="0" indent="0" algn="ctr">
              <a:buNone/>
            </a:pPr>
            <a:r>
              <a:rPr lang="en-US" sz="1100" dirty="0">
                <a:solidFill>
                  <a:srgbClr val="E8A0A0"/>
                </a:solidFill>
                <a:latin typeface="Calibri" pitchFamily="34" charset="0"/>
                <a:ea typeface="Calibri" pitchFamily="34" charset="-122"/>
                <a:cs typeface="Calibri" pitchFamily="34" charset="-120"/>
              </a:rPr>
              <a:t>cause of death</a:t>
            </a:r>
            <a:endParaRPr lang="en-US" sz="1100" dirty="0"/>
          </a:p>
          <a:p>
            <a:pPr marL="0" indent="0" algn="ctr">
              <a:buNone/>
            </a:pPr>
            <a:r>
              <a:rPr lang="en-US" sz="1100" dirty="0">
                <a:solidFill>
                  <a:srgbClr val="E8A0A0"/>
                </a:solidFill>
                <a:latin typeface="Calibri" pitchFamily="34" charset="0"/>
                <a:ea typeface="Calibri" pitchFamily="34" charset="-122"/>
                <a:cs typeface="Calibri" pitchFamily="34" charset="-120"/>
              </a:rPr>
              <a:t>in the United States</a:t>
            </a:r>
            <a:endParaRPr lang="en-US" sz="1100" dirty="0"/>
          </a:p>
        </p:txBody>
      </p:sp>
      <p:sp>
        <p:nvSpPr>
          <p:cNvPr id="8" name="Shape 5"/>
          <p:cNvSpPr/>
          <p:nvPr/>
        </p:nvSpPr>
        <p:spPr>
          <a:xfrm>
            <a:off x="3246120" y="868680"/>
            <a:ext cx="5577840" cy="1143000"/>
          </a:xfrm>
          <a:prstGeom prst="rect">
            <a:avLst/>
          </a:prstGeom>
          <a:solidFill>
            <a:srgbClr val="FFFFFF"/>
          </a:solidFill>
          <a:ln w="12700">
            <a:solidFill>
              <a:srgbClr val="D4A0A0"/>
            </a:solidFill>
            <a:prstDash val="solid"/>
          </a:ln>
          <a:effectLst>
            <a:outerShdw blurRad="63500" dist="25400" dir="8100000" algn="bl" rotWithShape="0">
              <a:srgbClr val="000000">
                <a:alpha val="8000"/>
              </a:srgbClr>
            </a:outerShdw>
          </a:effectLst>
        </p:spPr>
        <p:txBody>
          <a:bodyPr/>
          <a:lstStyle/>
          <a:p>
            <a:endParaRPr lang="en-US"/>
          </a:p>
        </p:txBody>
      </p:sp>
      <p:pic>
        <p:nvPicPr>
          <p:cNvPr id="9" name="Image 1" descr="preencoded.png"/>
          <p:cNvPicPr>
            <a:picLocks noChangeAspect="1"/>
          </p:cNvPicPr>
          <p:nvPr/>
        </p:nvPicPr>
        <p:blipFill>
          <a:blip r:embed="rId3"/>
          <a:stretch>
            <a:fillRect/>
          </a:stretch>
        </p:blipFill>
        <p:spPr>
          <a:xfrm>
            <a:off x="3410712" y="1188720"/>
            <a:ext cx="384048" cy="384048"/>
          </a:xfrm>
          <a:prstGeom prst="rect">
            <a:avLst/>
          </a:prstGeom>
        </p:spPr>
      </p:pic>
      <p:sp>
        <p:nvSpPr>
          <p:cNvPr id="10" name="Text 6"/>
          <p:cNvSpPr/>
          <p:nvPr/>
        </p:nvSpPr>
        <p:spPr>
          <a:xfrm>
            <a:off x="3904488" y="1005840"/>
            <a:ext cx="4663440" cy="347472"/>
          </a:xfrm>
          <a:prstGeom prst="rect">
            <a:avLst/>
          </a:prstGeom>
          <a:noFill/>
          <a:ln/>
        </p:spPr>
        <p:txBody>
          <a:bodyPr wrap="square" lIns="0" tIns="0" rIns="0" bIns="0" rtlCol="0" anchor="ctr"/>
          <a:lstStyle/>
          <a:p>
            <a:pPr marL="0" indent="0">
              <a:buNone/>
            </a:pPr>
            <a:r>
              <a:rPr lang="en-US" sz="1300" b="1" dirty="0">
                <a:solidFill>
                  <a:srgbClr val="8B0000"/>
                </a:solidFill>
                <a:latin typeface="Calibri" pitchFamily="34" charset="0"/>
                <a:ea typeface="Calibri" pitchFamily="34" charset="-122"/>
                <a:cs typeface="Calibri" pitchFamily="34" charset="-120"/>
              </a:rPr>
              <a:t>Late Detection</a:t>
            </a:r>
            <a:endParaRPr lang="en-US" sz="1300" dirty="0"/>
          </a:p>
        </p:txBody>
      </p:sp>
      <p:sp>
        <p:nvSpPr>
          <p:cNvPr id="11" name="Text 7"/>
          <p:cNvSpPr/>
          <p:nvPr/>
        </p:nvSpPr>
        <p:spPr>
          <a:xfrm>
            <a:off x="3904488" y="1371600"/>
            <a:ext cx="4663440" cy="457200"/>
          </a:xfrm>
          <a:prstGeom prst="rect">
            <a:avLst/>
          </a:prstGeom>
          <a:noFill/>
          <a:ln/>
        </p:spPr>
        <p:txBody>
          <a:bodyPr wrap="square" lIns="0" tIns="0" rIns="0" bIns="0" rtlCol="0" anchor="ctr"/>
          <a:lstStyle/>
          <a:p>
            <a:pPr marL="0" indent="0">
              <a:buNone/>
            </a:pPr>
            <a:r>
              <a:rPr lang="en-US" sz="1100" dirty="0">
                <a:solidFill>
                  <a:srgbClr val="2C2C2C"/>
                </a:solidFill>
                <a:latin typeface="Calibri" pitchFamily="34" charset="0"/>
                <a:ea typeface="Calibri" pitchFamily="34" charset="-122"/>
                <a:cs typeface="Calibri" pitchFamily="34" charset="-120"/>
              </a:rPr>
              <a:t>Most patients learn of risk only during clinical visits</a:t>
            </a:r>
            <a:endParaRPr lang="en-US" sz="1100" dirty="0"/>
          </a:p>
        </p:txBody>
      </p:sp>
      <p:sp>
        <p:nvSpPr>
          <p:cNvPr id="12" name="Shape 8"/>
          <p:cNvSpPr/>
          <p:nvPr/>
        </p:nvSpPr>
        <p:spPr>
          <a:xfrm>
            <a:off x="3246120" y="2194560"/>
            <a:ext cx="5577840" cy="1143000"/>
          </a:xfrm>
          <a:prstGeom prst="rect">
            <a:avLst/>
          </a:prstGeom>
          <a:solidFill>
            <a:srgbClr val="FFFFFF"/>
          </a:solidFill>
          <a:ln w="12700">
            <a:solidFill>
              <a:srgbClr val="D4A0A0"/>
            </a:solidFill>
            <a:prstDash val="solid"/>
          </a:ln>
          <a:effectLst>
            <a:outerShdw blurRad="63500" dist="25400" dir="8100000" algn="bl" rotWithShape="0">
              <a:srgbClr val="000000">
                <a:alpha val="8000"/>
              </a:srgbClr>
            </a:outerShdw>
          </a:effectLst>
        </p:spPr>
        <p:txBody>
          <a:bodyPr/>
          <a:lstStyle/>
          <a:p>
            <a:endParaRPr lang="en-US"/>
          </a:p>
        </p:txBody>
      </p:sp>
      <p:pic>
        <p:nvPicPr>
          <p:cNvPr id="13" name="Image 2" descr="preencoded.png"/>
          <p:cNvPicPr>
            <a:picLocks noChangeAspect="1"/>
          </p:cNvPicPr>
          <p:nvPr/>
        </p:nvPicPr>
        <p:blipFill>
          <a:blip r:embed="rId4"/>
          <a:stretch>
            <a:fillRect/>
          </a:stretch>
        </p:blipFill>
        <p:spPr>
          <a:xfrm>
            <a:off x="3410712" y="2514600"/>
            <a:ext cx="384048" cy="384048"/>
          </a:xfrm>
          <a:prstGeom prst="rect">
            <a:avLst/>
          </a:prstGeom>
        </p:spPr>
      </p:pic>
      <p:sp>
        <p:nvSpPr>
          <p:cNvPr id="14" name="Text 9"/>
          <p:cNvSpPr/>
          <p:nvPr/>
        </p:nvSpPr>
        <p:spPr>
          <a:xfrm>
            <a:off x="3904488" y="2331720"/>
            <a:ext cx="4663440" cy="347472"/>
          </a:xfrm>
          <a:prstGeom prst="rect">
            <a:avLst/>
          </a:prstGeom>
          <a:noFill/>
          <a:ln/>
        </p:spPr>
        <p:txBody>
          <a:bodyPr wrap="square" lIns="0" tIns="0" rIns="0" bIns="0" rtlCol="0" anchor="ctr"/>
          <a:lstStyle/>
          <a:p>
            <a:pPr marL="0" indent="0">
              <a:buNone/>
            </a:pPr>
            <a:r>
              <a:rPr lang="en-US" sz="1300" b="1" dirty="0">
                <a:solidFill>
                  <a:srgbClr val="8B0000"/>
                </a:solidFill>
                <a:latin typeface="Calibri" pitchFamily="34" charset="0"/>
                <a:ea typeface="Calibri" pitchFamily="34" charset="-122"/>
                <a:cs typeface="Calibri" pitchFamily="34" charset="-120"/>
              </a:rPr>
              <a:t>No Explainability</a:t>
            </a:r>
            <a:endParaRPr lang="en-US" sz="1300" dirty="0"/>
          </a:p>
        </p:txBody>
      </p:sp>
      <p:sp>
        <p:nvSpPr>
          <p:cNvPr id="15" name="Text 10"/>
          <p:cNvSpPr/>
          <p:nvPr/>
        </p:nvSpPr>
        <p:spPr>
          <a:xfrm>
            <a:off x="3904488" y="2697480"/>
            <a:ext cx="4663440" cy="457200"/>
          </a:xfrm>
          <a:prstGeom prst="rect">
            <a:avLst/>
          </a:prstGeom>
          <a:noFill/>
          <a:ln/>
        </p:spPr>
        <p:txBody>
          <a:bodyPr wrap="square" lIns="0" tIns="0" rIns="0" bIns="0" rtlCol="0" anchor="ctr"/>
          <a:lstStyle/>
          <a:p>
            <a:pPr marL="0" indent="0">
              <a:buNone/>
            </a:pPr>
            <a:r>
              <a:rPr lang="en-US" sz="1100" dirty="0">
                <a:solidFill>
                  <a:srgbClr val="2C2C2C"/>
                </a:solidFill>
                <a:latin typeface="Calibri" pitchFamily="34" charset="0"/>
                <a:ea typeface="Calibri" pitchFamily="34" charset="-122"/>
                <a:cs typeface="Calibri" pitchFamily="34" charset="-120"/>
              </a:rPr>
              <a:t>Existing tools give a score but not a reason or action plan</a:t>
            </a:r>
            <a:endParaRPr lang="en-US" sz="1100" dirty="0"/>
          </a:p>
        </p:txBody>
      </p:sp>
      <p:sp>
        <p:nvSpPr>
          <p:cNvPr id="16" name="Shape 11"/>
          <p:cNvSpPr/>
          <p:nvPr/>
        </p:nvSpPr>
        <p:spPr>
          <a:xfrm>
            <a:off x="3246120" y="3520440"/>
            <a:ext cx="5577840" cy="1143000"/>
          </a:xfrm>
          <a:prstGeom prst="rect">
            <a:avLst/>
          </a:prstGeom>
          <a:solidFill>
            <a:srgbClr val="FFFFFF"/>
          </a:solidFill>
          <a:ln w="12700">
            <a:solidFill>
              <a:srgbClr val="D4A0A0"/>
            </a:solidFill>
            <a:prstDash val="solid"/>
          </a:ln>
          <a:effectLst>
            <a:outerShdw blurRad="63500" dist="25400" dir="8100000" algn="bl" rotWithShape="0">
              <a:srgbClr val="000000">
                <a:alpha val="8000"/>
              </a:srgbClr>
            </a:outerShdw>
          </a:effectLst>
        </p:spPr>
        <p:txBody>
          <a:bodyPr/>
          <a:lstStyle/>
          <a:p>
            <a:endParaRPr lang="en-US"/>
          </a:p>
        </p:txBody>
      </p:sp>
      <p:pic>
        <p:nvPicPr>
          <p:cNvPr id="17" name="Image 3" descr="preencoded.png"/>
          <p:cNvPicPr>
            <a:picLocks noChangeAspect="1"/>
          </p:cNvPicPr>
          <p:nvPr/>
        </p:nvPicPr>
        <p:blipFill>
          <a:blip r:embed="rId5"/>
          <a:stretch>
            <a:fillRect/>
          </a:stretch>
        </p:blipFill>
        <p:spPr>
          <a:xfrm>
            <a:off x="3410712" y="3840480"/>
            <a:ext cx="384048" cy="384048"/>
          </a:xfrm>
          <a:prstGeom prst="rect">
            <a:avLst/>
          </a:prstGeom>
        </p:spPr>
      </p:pic>
      <p:sp>
        <p:nvSpPr>
          <p:cNvPr id="18" name="Text 12"/>
          <p:cNvSpPr/>
          <p:nvPr/>
        </p:nvSpPr>
        <p:spPr>
          <a:xfrm>
            <a:off x="3904488" y="3657600"/>
            <a:ext cx="4663440" cy="347472"/>
          </a:xfrm>
          <a:prstGeom prst="rect">
            <a:avLst/>
          </a:prstGeom>
          <a:noFill/>
          <a:ln/>
        </p:spPr>
        <p:txBody>
          <a:bodyPr wrap="square" lIns="0" tIns="0" rIns="0" bIns="0" rtlCol="0" anchor="ctr"/>
          <a:lstStyle/>
          <a:p>
            <a:pPr marL="0" indent="0">
              <a:buNone/>
            </a:pPr>
            <a:r>
              <a:rPr lang="en-US" sz="1300" b="1" dirty="0">
                <a:solidFill>
                  <a:srgbClr val="8B0000"/>
                </a:solidFill>
                <a:latin typeface="Calibri" pitchFamily="34" charset="0"/>
                <a:ea typeface="Calibri" pitchFamily="34" charset="-122"/>
                <a:cs typeface="Calibri" pitchFamily="34" charset="-120"/>
              </a:rPr>
              <a:t>Not Accessible</a:t>
            </a:r>
            <a:endParaRPr lang="en-US" sz="1300" dirty="0"/>
          </a:p>
        </p:txBody>
      </p:sp>
      <p:sp>
        <p:nvSpPr>
          <p:cNvPr id="19" name="Text 13"/>
          <p:cNvSpPr/>
          <p:nvPr/>
        </p:nvSpPr>
        <p:spPr>
          <a:xfrm>
            <a:off x="3904488" y="4023360"/>
            <a:ext cx="4663440" cy="457200"/>
          </a:xfrm>
          <a:prstGeom prst="rect">
            <a:avLst/>
          </a:prstGeom>
          <a:noFill/>
          <a:ln/>
        </p:spPr>
        <p:txBody>
          <a:bodyPr wrap="square" lIns="0" tIns="0" rIns="0" bIns="0" rtlCol="0" anchor="ctr"/>
          <a:lstStyle/>
          <a:p>
            <a:pPr marL="0" indent="0">
              <a:buNone/>
            </a:pPr>
            <a:r>
              <a:rPr lang="en-US" sz="1100" dirty="0">
                <a:solidFill>
                  <a:srgbClr val="2C2C2C"/>
                </a:solidFill>
                <a:latin typeface="Calibri" pitchFamily="34" charset="0"/>
                <a:ea typeface="Calibri" pitchFamily="34" charset="-122"/>
                <a:cs typeface="Calibri" pitchFamily="34" charset="-120"/>
              </a:rPr>
              <a:t>Risk tools are clinical-only; patients lack direct access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347472" y="256032"/>
            <a:ext cx="384048" cy="384048"/>
          </a:xfrm>
          <a:prstGeom prst="rect">
            <a:avLst/>
          </a:prstGeom>
        </p:spPr>
      </p:pic>
      <p:sp>
        <p:nvSpPr>
          <p:cNvPr id="4" name="Text 1"/>
          <p:cNvSpPr/>
          <p:nvPr/>
        </p:nvSpPr>
        <p:spPr>
          <a:xfrm>
            <a:off x="822960" y="256032"/>
            <a:ext cx="7315200" cy="411480"/>
          </a:xfrm>
          <a:prstGeom prst="rect">
            <a:avLst/>
          </a:prstGeom>
          <a:noFill/>
          <a:ln/>
        </p:spPr>
        <p:txBody>
          <a:bodyPr wrap="square" lIns="0" tIns="0" rIns="0" bIns="0" rtlCol="0" anchor="ctr"/>
          <a:lstStyle/>
          <a:p>
            <a:pPr marL="0" indent="0">
              <a:buNone/>
            </a:pPr>
            <a:r>
              <a:rPr lang="en-US" sz="2800" b="1" dirty="0">
                <a:solidFill>
                  <a:srgbClr val="8B0000"/>
                </a:solidFill>
                <a:latin typeface="Georgia" pitchFamily="34" charset="0"/>
                <a:ea typeface="Georgia" pitchFamily="34" charset="-122"/>
                <a:cs typeface="Georgia" pitchFamily="34" charset="-120"/>
              </a:rPr>
              <a:t>Solution &amp; Goals</a:t>
            </a:r>
            <a:endParaRPr lang="en-US" sz="2800" dirty="0"/>
          </a:p>
        </p:txBody>
      </p:sp>
      <p:sp>
        <p:nvSpPr>
          <p:cNvPr id="5" name="Text 2"/>
          <p:cNvSpPr/>
          <p:nvPr/>
        </p:nvSpPr>
        <p:spPr>
          <a:xfrm>
            <a:off x="347472" y="822960"/>
            <a:ext cx="8412480" cy="5486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A containerized ML microservice deployed on Azure App Service — serving heart disease risk predictions with SHAP explainability through a patient-facing web dashboard.</a:t>
            </a:r>
            <a:endParaRPr lang="en-US" sz="1200" dirty="0"/>
          </a:p>
        </p:txBody>
      </p:sp>
      <p:sp>
        <p:nvSpPr>
          <p:cNvPr id="6" name="Shape 3"/>
          <p:cNvSpPr/>
          <p:nvPr/>
        </p:nvSpPr>
        <p:spPr>
          <a:xfrm>
            <a:off x="347472" y="1508760"/>
            <a:ext cx="4160520" cy="1325880"/>
          </a:xfrm>
          <a:prstGeom prst="rect">
            <a:avLst/>
          </a:prstGeom>
          <a:solidFill>
            <a:srgbClr val="FFFFFF"/>
          </a:solidFill>
          <a:ln w="12700">
            <a:solidFill>
              <a:srgbClr val="D4A0A0"/>
            </a:solidFill>
            <a:prstDash val="solid"/>
          </a:ln>
          <a:effectLst>
            <a:outerShdw blurRad="63500" dist="25400" dir="8100000" algn="bl" rotWithShape="0">
              <a:srgbClr val="000000">
                <a:alpha val="8000"/>
              </a:srgbClr>
            </a:outerShdw>
          </a:effectLst>
        </p:spPr>
        <p:txBody>
          <a:bodyPr/>
          <a:lstStyle/>
          <a:p>
            <a:endParaRPr lang="en-US"/>
          </a:p>
        </p:txBody>
      </p:sp>
      <p:sp>
        <p:nvSpPr>
          <p:cNvPr id="7" name="Shape 4"/>
          <p:cNvSpPr/>
          <p:nvPr/>
        </p:nvSpPr>
        <p:spPr>
          <a:xfrm>
            <a:off x="347472" y="1508760"/>
            <a:ext cx="64008" cy="1325880"/>
          </a:xfrm>
          <a:prstGeom prst="rect">
            <a:avLst/>
          </a:prstGeom>
          <a:solidFill>
            <a:srgbClr val="8B0000"/>
          </a:solidFill>
          <a:ln w="12700">
            <a:solidFill>
              <a:srgbClr val="8B0000"/>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512064" y="1618488"/>
            <a:ext cx="347472" cy="347472"/>
          </a:xfrm>
          <a:prstGeom prst="rect">
            <a:avLst/>
          </a:prstGeom>
        </p:spPr>
      </p:pic>
      <p:sp>
        <p:nvSpPr>
          <p:cNvPr id="9" name="Text 5"/>
          <p:cNvSpPr/>
          <p:nvPr/>
        </p:nvSpPr>
        <p:spPr>
          <a:xfrm>
            <a:off x="969264" y="1600200"/>
            <a:ext cx="3383280" cy="347472"/>
          </a:xfrm>
          <a:prstGeom prst="rect">
            <a:avLst/>
          </a:prstGeom>
          <a:noFill/>
          <a:ln/>
        </p:spPr>
        <p:txBody>
          <a:bodyPr wrap="square" lIns="0" tIns="0" rIns="0" bIns="0" rtlCol="0" anchor="ctr"/>
          <a:lstStyle/>
          <a:p>
            <a:pPr marL="0" indent="0">
              <a:buNone/>
            </a:pPr>
            <a:r>
              <a:rPr lang="en-US" sz="1300" b="1" dirty="0">
                <a:solidFill>
                  <a:srgbClr val="8B0000"/>
                </a:solidFill>
                <a:latin typeface="Calibri" pitchFamily="34" charset="0"/>
                <a:ea typeface="Calibri" pitchFamily="34" charset="-122"/>
                <a:cs typeface="Calibri" pitchFamily="34" charset="-120"/>
              </a:rPr>
              <a:t>Model Comparison</a:t>
            </a:r>
            <a:endParaRPr lang="en-US" sz="1300" dirty="0"/>
          </a:p>
        </p:txBody>
      </p:sp>
      <p:sp>
        <p:nvSpPr>
          <p:cNvPr id="10" name="Text 6"/>
          <p:cNvSpPr/>
          <p:nvPr/>
        </p:nvSpPr>
        <p:spPr>
          <a:xfrm>
            <a:off x="969264" y="1965960"/>
            <a:ext cx="3383280" cy="685800"/>
          </a:xfrm>
          <a:prstGeom prst="rect">
            <a:avLst/>
          </a:prstGeom>
          <a:noFill/>
          <a:ln/>
        </p:spPr>
        <p:txBody>
          <a:bodyPr wrap="square" lIns="0" tIns="0" rIns="0" bIns="0" rtlCol="0" anchor="ctr"/>
          <a:lstStyle/>
          <a:p>
            <a:pPr marL="0" indent="0">
              <a:buNone/>
            </a:pPr>
            <a:r>
              <a:rPr lang="en-US" sz="1050" dirty="0">
                <a:solidFill>
                  <a:srgbClr val="2C2C2C"/>
                </a:solidFill>
                <a:latin typeface="Calibri" pitchFamily="34" charset="0"/>
                <a:ea typeface="Calibri" pitchFamily="34" charset="-122"/>
                <a:cs typeface="Calibri" pitchFamily="34" charset="-120"/>
              </a:rPr>
              <a:t>Train &amp; evaluate Logistic Regression, Random Forest, </a:t>
            </a:r>
            <a:r>
              <a:rPr lang="en-US" sz="1050" dirty="0" err="1">
                <a:solidFill>
                  <a:srgbClr val="2C2C2C"/>
                </a:solidFill>
                <a:latin typeface="Calibri" pitchFamily="34" charset="0"/>
                <a:ea typeface="Calibri" pitchFamily="34" charset="-122"/>
                <a:cs typeface="Calibri" pitchFamily="34" charset="-120"/>
              </a:rPr>
              <a:t>XGBoost</a:t>
            </a:r>
            <a:r>
              <a:rPr lang="en-US" sz="1050" dirty="0">
                <a:solidFill>
                  <a:srgbClr val="2C2C2C"/>
                </a:solidFill>
                <a:latin typeface="Calibri" pitchFamily="34" charset="0"/>
                <a:ea typeface="Calibri" pitchFamily="34" charset="-122"/>
                <a:cs typeface="Calibri" pitchFamily="34" charset="-120"/>
              </a:rPr>
              <a:t> and select best by AUC-ROC &amp; F1</a:t>
            </a:r>
            <a:endParaRPr lang="en-US" sz="1050" dirty="0"/>
          </a:p>
        </p:txBody>
      </p:sp>
      <p:sp>
        <p:nvSpPr>
          <p:cNvPr id="11" name="Shape 7"/>
          <p:cNvSpPr/>
          <p:nvPr/>
        </p:nvSpPr>
        <p:spPr>
          <a:xfrm>
            <a:off x="4709160" y="1508760"/>
            <a:ext cx="4160520" cy="1325880"/>
          </a:xfrm>
          <a:prstGeom prst="rect">
            <a:avLst/>
          </a:prstGeom>
          <a:solidFill>
            <a:srgbClr val="FFFFFF"/>
          </a:solidFill>
          <a:ln w="12700">
            <a:solidFill>
              <a:srgbClr val="D4A0A0"/>
            </a:solidFill>
            <a:prstDash val="solid"/>
          </a:ln>
          <a:effectLst>
            <a:outerShdw blurRad="63500" dist="25400" dir="8100000" algn="bl" rotWithShape="0">
              <a:srgbClr val="000000">
                <a:alpha val="8000"/>
              </a:srgbClr>
            </a:outerShdw>
          </a:effectLst>
        </p:spPr>
        <p:txBody>
          <a:bodyPr/>
          <a:lstStyle/>
          <a:p>
            <a:endParaRPr lang="en-US"/>
          </a:p>
        </p:txBody>
      </p:sp>
      <p:sp>
        <p:nvSpPr>
          <p:cNvPr id="12" name="Shape 8"/>
          <p:cNvSpPr/>
          <p:nvPr/>
        </p:nvSpPr>
        <p:spPr>
          <a:xfrm>
            <a:off x="4709160" y="1508760"/>
            <a:ext cx="64008" cy="1325880"/>
          </a:xfrm>
          <a:prstGeom prst="rect">
            <a:avLst/>
          </a:prstGeom>
          <a:solidFill>
            <a:srgbClr val="8B0000"/>
          </a:solidFill>
          <a:ln w="12700">
            <a:solidFill>
              <a:srgbClr val="8B0000"/>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4873752" y="1618488"/>
            <a:ext cx="347472" cy="347472"/>
          </a:xfrm>
          <a:prstGeom prst="rect">
            <a:avLst/>
          </a:prstGeom>
        </p:spPr>
      </p:pic>
      <p:sp>
        <p:nvSpPr>
          <p:cNvPr id="14" name="Text 9"/>
          <p:cNvSpPr/>
          <p:nvPr/>
        </p:nvSpPr>
        <p:spPr>
          <a:xfrm>
            <a:off x="5330952" y="1600200"/>
            <a:ext cx="3383280" cy="347472"/>
          </a:xfrm>
          <a:prstGeom prst="rect">
            <a:avLst/>
          </a:prstGeom>
          <a:noFill/>
          <a:ln/>
        </p:spPr>
        <p:txBody>
          <a:bodyPr wrap="square" lIns="0" tIns="0" rIns="0" bIns="0" rtlCol="0" anchor="ctr"/>
          <a:lstStyle/>
          <a:p>
            <a:pPr marL="0" indent="0">
              <a:buNone/>
            </a:pPr>
            <a:r>
              <a:rPr lang="en-US" sz="1300" b="1" dirty="0">
                <a:solidFill>
                  <a:srgbClr val="8B0000"/>
                </a:solidFill>
                <a:latin typeface="Calibri" pitchFamily="34" charset="0"/>
                <a:ea typeface="Calibri" pitchFamily="34" charset="-122"/>
                <a:cs typeface="Calibri" pitchFamily="34" charset="-120"/>
              </a:rPr>
              <a:t>Risk Dashboard</a:t>
            </a:r>
            <a:endParaRPr lang="en-US" sz="1300" dirty="0"/>
          </a:p>
        </p:txBody>
      </p:sp>
      <p:sp>
        <p:nvSpPr>
          <p:cNvPr id="15" name="Text 10"/>
          <p:cNvSpPr/>
          <p:nvPr/>
        </p:nvSpPr>
        <p:spPr>
          <a:xfrm>
            <a:off x="5330952" y="1965960"/>
            <a:ext cx="3383280" cy="685800"/>
          </a:xfrm>
          <a:prstGeom prst="rect">
            <a:avLst/>
          </a:prstGeom>
          <a:noFill/>
          <a:ln/>
        </p:spPr>
        <p:txBody>
          <a:bodyPr wrap="square" lIns="0" tIns="0" rIns="0" bIns="0" rtlCol="0" anchor="ctr"/>
          <a:lstStyle/>
          <a:p>
            <a:pPr marL="0" indent="0">
              <a:buNone/>
            </a:pPr>
            <a:r>
              <a:rPr lang="en-US" sz="1050" dirty="0">
                <a:solidFill>
                  <a:srgbClr val="2C2C2C"/>
                </a:solidFill>
                <a:latin typeface="Calibri" pitchFamily="34" charset="0"/>
                <a:ea typeface="Calibri" pitchFamily="34" charset="-122"/>
                <a:cs typeface="Calibri" pitchFamily="34" charset="-120"/>
              </a:rPr>
              <a:t>Interactive gauge showing 0–100% risk score vs. clinical thresholds for key vitals</a:t>
            </a:r>
            <a:endParaRPr lang="en-US" sz="1050" dirty="0"/>
          </a:p>
        </p:txBody>
      </p:sp>
      <p:sp>
        <p:nvSpPr>
          <p:cNvPr id="16" name="Shape 11"/>
          <p:cNvSpPr/>
          <p:nvPr/>
        </p:nvSpPr>
        <p:spPr>
          <a:xfrm>
            <a:off x="347472" y="3017520"/>
            <a:ext cx="4160520" cy="1325880"/>
          </a:xfrm>
          <a:prstGeom prst="rect">
            <a:avLst/>
          </a:prstGeom>
          <a:solidFill>
            <a:srgbClr val="FFFFFF"/>
          </a:solidFill>
          <a:ln w="12700">
            <a:solidFill>
              <a:srgbClr val="D4A0A0"/>
            </a:solidFill>
            <a:prstDash val="solid"/>
          </a:ln>
          <a:effectLst>
            <a:outerShdw blurRad="63500" dist="25400" dir="8100000" algn="bl" rotWithShape="0">
              <a:srgbClr val="000000">
                <a:alpha val="8000"/>
              </a:srgbClr>
            </a:outerShdw>
          </a:effectLst>
        </p:spPr>
        <p:txBody>
          <a:bodyPr/>
          <a:lstStyle/>
          <a:p>
            <a:endParaRPr lang="en-US"/>
          </a:p>
        </p:txBody>
      </p:sp>
      <p:sp>
        <p:nvSpPr>
          <p:cNvPr id="17" name="Shape 12"/>
          <p:cNvSpPr/>
          <p:nvPr/>
        </p:nvSpPr>
        <p:spPr>
          <a:xfrm>
            <a:off x="347472" y="3017520"/>
            <a:ext cx="64008" cy="1325880"/>
          </a:xfrm>
          <a:prstGeom prst="rect">
            <a:avLst/>
          </a:prstGeom>
          <a:solidFill>
            <a:srgbClr val="8B0000"/>
          </a:solidFill>
          <a:ln w="12700">
            <a:solidFill>
              <a:srgbClr val="8B0000"/>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512064" y="3127248"/>
            <a:ext cx="347472" cy="347472"/>
          </a:xfrm>
          <a:prstGeom prst="rect">
            <a:avLst/>
          </a:prstGeom>
        </p:spPr>
      </p:pic>
      <p:sp>
        <p:nvSpPr>
          <p:cNvPr id="19" name="Text 13"/>
          <p:cNvSpPr/>
          <p:nvPr/>
        </p:nvSpPr>
        <p:spPr>
          <a:xfrm>
            <a:off x="969264" y="3108960"/>
            <a:ext cx="3383280" cy="347472"/>
          </a:xfrm>
          <a:prstGeom prst="rect">
            <a:avLst/>
          </a:prstGeom>
          <a:noFill/>
          <a:ln/>
        </p:spPr>
        <p:txBody>
          <a:bodyPr wrap="square" lIns="0" tIns="0" rIns="0" bIns="0" rtlCol="0" anchor="ctr"/>
          <a:lstStyle/>
          <a:p>
            <a:pPr marL="0" indent="0">
              <a:buNone/>
            </a:pPr>
            <a:r>
              <a:rPr lang="en-US" sz="1300" b="1" dirty="0">
                <a:solidFill>
                  <a:srgbClr val="8B0000"/>
                </a:solidFill>
                <a:latin typeface="Calibri" pitchFamily="34" charset="0"/>
                <a:ea typeface="Calibri" pitchFamily="34" charset="-122"/>
                <a:cs typeface="Calibri" pitchFamily="34" charset="-120"/>
              </a:rPr>
              <a:t>SHAP Explainability</a:t>
            </a:r>
            <a:endParaRPr lang="en-US" sz="1300" dirty="0"/>
          </a:p>
        </p:txBody>
      </p:sp>
      <p:sp>
        <p:nvSpPr>
          <p:cNvPr id="20" name="Text 14"/>
          <p:cNvSpPr/>
          <p:nvPr/>
        </p:nvSpPr>
        <p:spPr>
          <a:xfrm>
            <a:off x="969264" y="3474720"/>
            <a:ext cx="3383280" cy="685800"/>
          </a:xfrm>
          <a:prstGeom prst="rect">
            <a:avLst/>
          </a:prstGeom>
          <a:noFill/>
          <a:ln/>
        </p:spPr>
        <p:txBody>
          <a:bodyPr wrap="square" lIns="0" tIns="0" rIns="0" bIns="0" rtlCol="0" anchor="ctr"/>
          <a:lstStyle/>
          <a:p>
            <a:pPr marL="0" indent="0">
              <a:buNone/>
            </a:pPr>
            <a:r>
              <a:rPr lang="en-US" sz="1050" dirty="0">
                <a:solidFill>
                  <a:srgbClr val="2C2C2C"/>
                </a:solidFill>
                <a:latin typeface="Calibri" pitchFamily="34" charset="0"/>
                <a:ea typeface="Calibri" pitchFamily="34" charset="-122"/>
                <a:cs typeface="Calibri" pitchFamily="34" charset="-120"/>
              </a:rPr>
              <a:t>Show which features drive each patient's risk and provide personalized recommendations</a:t>
            </a:r>
            <a:endParaRPr lang="en-US" sz="1050" dirty="0"/>
          </a:p>
        </p:txBody>
      </p:sp>
      <p:sp>
        <p:nvSpPr>
          <p:cNvPr id="21" name="Shape 15"/>
          <p:cNvSpPr/>
          <p:nvPr/>
        </p:nvSpPr>
        <p:spPr>
          <a:xfrm>
            <a:off x="4709160" y="3017520"/>
            <a:ext cx="4160520" cy="1325880"/>
          </a:xfrm>
          <a:prstGeom prst="rect">
            <a:avLst/>
          </a:prstGeom>
          <a:solidFill>
            <a:srgbClr val="FFFFFF"/>
          </a:solidFill>
          <a:ln w="12700">
            <a:solidFill>
              <a:srgbClr val="D4A0A0"/>
            </a:solidFill>
            <a:prstDash val="solid"/>
          </a:ln>
          <a:effectLst>
            <a:outerShdw blurRad="63500" dist="25400" dir="8100000" algn="bl" rotWithShape="0">
              <a:srgbClr val="000000">
                <a:alpha val="8000"/>
              </a:srgbClr>
            </a:outerShdw>
          </a:effectLst>
        </p:spPr>
        <p:txBody>
          <a:bodyPr/>
          <a:lstStyle/>
          <a:p>
            <a:endParaRPr lang="en-US"/>
          </a:p>
        </p:txBody>
      </p:sp>
      <p:sp>
        <p:nvSpPr>
          <p:cNvPr id="22" name="Shape 16"/>
          <p:cNvSpPr/>
          <p:nvPr/>
        </p:nvSpPr>
        <p:spPr>
          <a:xfrm>
            <a:off x="4709160" y="3017520"/>
            <a:ext cx="64008" cy="1325880"/>
          </a:xfrm>
          <a:prstGeom prst="rect">
            <a:avLst/>
          </a:prstGeom>
          <a:solidFill>
            <a:srgbClr val="8B0000"/>
          </a:solidFill>
          <a:ln w="12700">
            <a:solidFill>
              <a:srgbClr val="8B0000"/>
            </a:solidFill>
            <a:prstDash val="solid"/>
          </a:ln>
        </p:spPr>
        <p:txBody>
          <a:bodyPr/>
          <a:lstStyle/>
          <a:p>
            <a:endParaRPr lang="en-US"/>
          </a:p>
        </p:txBody>
      </p:sp>
      <p:pic>
        <p:nvPicPr>
          <p:cNvPr id="23" name="Image 4" descr="preencoded.png"/>
          <p:cNvPicPr>
            <a:picLocks noChangeAspect="1"/>
          </p:cNvPicPr>
          <p:nvPr/>
        </p:nvPicPr>
        <p:blipFill>
          <a:blip r:embed="rId7"/>
          <a:stretch>
            <a:fillRect/>
          </a:stretch>
        </p:blipFill>
        <p:spPr>
          <a:xfrm>
            <a:off x="4873752" y="3127248"/>
            <a:ext cx="347472" cy="347472"/>
          </a:xfrm>
          <a:prstGeom prst="rect">
            <a:avLst/>
          </a:prstGeom>
        </p:spPr>
      </p:pic>
      <p:sp>
        <p:nvSpPr>
          <p:cNvPr id="24" name="Text 17"/>
          <p:cNvSpPr/>
          <p:nvPr/>
        </p:nvSpPr>
        <p:spPr>
          <a:xfrm>
            <a:off x="5330952" y="3108960"/>
            <a:ext cx="3383280" cy="347472"/>
          </a:xfrm>
          <a:prstGeom prst="rect">
            <a:avLst/>
          </a:prstGeom>
          <a:noFill/>
          <a:ln/>
        </p:spPr>
        <p:txBody>
          <a:bodyPr wrap="square" lIns="0" tIns="0" rIns="0" bIns="0" rtlCol="0" anchor="ctr"/>
          <a:lstStyle/>
          <a:p>
            <a:pPr marL="0" indent="0">
              <a:buNone/>
            </a:pPr>
            <a:r>
              <a:rPr lang="en-US" sz="1300" b="1" dirty="0">
                <a:solidFill>
                  <a:srgbClr val="8B0000"/>
                </a:solidFill>
                <a:latin typeface="Calibri" pitchFamily="34" charset="0"/>
                <a:ea typeface="Calibri" pitchFamily="34" charset="-122"/>
                <a:cs typeface="Calibri" pitchFamily="34" charset="-120"/>
              </a:rPr>
              <a:t>Cloud Deployment</a:t>
            </a:r>
            <a:endParaRPr lang="en-US" sz="1300" dirty="0"/>
          </a:p>
        </p:txBody>
      </p:sp>
      <p:sp>
        <p:nvSpPr>
          <p:cNvPr id="25" name="Text 18"/>
          <p:cNvSpPr/>
          <p:nvPr/>
        </p:nvSpPr>
        <p:spPr>
          <a:xfrm>
            <a:off x="5330952" y="3474720"/>
            <a:ext cx="3383280" cy="685800"/>
          </a:xfrm>
          <a:prstGeom prst="rect">
            <a:avLst/>
          </a:prstGeom>
          <a:noFill/>
          <a:ln/>
        </p:spPr>
        <p:txBody>
          <a:bodyPr wrap="square" lIns="0" tIns="0" rIns="0" bIns="0" rtlCol="0" anchor="ctr"/>
          <a:lstStyle/>
          <a:p>
            <a:pPr marL="0" indent="0">
              <a:buNone/>
            </a:pPr>
            <a:r>
              <a:rPr lang="en-US" sz="1050" dirty="0">
                <a:solidFill>
                  <a:srgbClr val="2C2C2C"/>
                </a:solidFill>
                <a:latin typeface="Calibri" pitchFamily="34" charset="0"/>
                <a:ea typeface="Calibri" pitchFamily="34" charset="-122"/>
                <a:cs typeface="Calibri" pitchFamily="34" charset="-120"/>
              </a:rPr>
              <a:t>Docker container on Azure App Service · Locust load testing at 10 / 50 / 100 concurrent users · response time &amp; throughput analysis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Dashboard Preview">
    <p:bg>
      <p:bgPr>
        <a:solidFill>
          <a:srgbClr val="FAF7F7"/>
        </a:solidFill>
        <a:effectLst/>
      </p:bgPr>
    </p:bg>
    <p:spTree>
      <p:nvGrpSpPr>
        <p:cNvPr id="1" name=""/>
        <p:cNvGrpSpPr/>
        <p:nvPr/>
      </p:nvGrpSpPr>
      <p:grpSpPr>
        <a:xfrm>
          <a:off x="0" y="0"/>
          <a:ext cx="0" cy="0"/>
          <a:chOff x="0" y="0"/>
          <a:chExt cx="0" cy="0"/>
        </a:xfrm>
      </p:grpSpPr>
      <p:sp>
        <p:nvSpPr>
          <p:cNvPr id="2" name="AccentBar"/>
          <p:cNvSpPr/>
          <p:nvPr/>
        </p:nvSpPr>
        <p:spPr>
          <a:xfrm>
            <a:off x="0" y="0"/>
            <a:ext cx="164592" cy="5143500"/>
          </a:xfrm>
          <a:prstGeom prst="rect">
            <a:avLst/>
          </a:prstGeom>
          <a:solidFill>
            <a:srgbClr val="8B0000"/>
          </a:solidFill>
          <a:ln w="12700">
            <a:solidFill>
              <a:srgbClr val="8B0000"/>
            </a:solidFill>
          </a:ln>
        </p:spPr>
        <p:txBody>
          <a:bodyPr/>
          <a:lstStyle/>
          <a:p>
            <a:endParaRPr lang="en-US"/>
          </a:p>
        </p:txBody>
      </p:sp>
      <p:sp>
        <p:nvSpPr>
          <p:cNvPr id="3" name="Title"/>
          <p:cNvSpPr/>
          <p:nvPr/>
        </p:nvSpPr>
        <p:spPr>
          <a:xfrm>
            <a:off x="822960" y="254000"/>
            <a:ext cx="8229600" cy="457200"/>
          </a:xfrm>
          <a:prstGeom prst="rect">
            <a:avLst/>
          </a:prstGeom>
          <a:noFill/>
        </p:spPr>
        <p:txBody>
          <a:bodyPr anchor="ctr"/>
          <a:lstStyle/>
          <a:p>
            <a:r>
              <a:rPr lang="en-US" sz="2800" b="1" dirty="0">
                <a:solidFill>
                  <a:srgbClr val="8B0000"/>
                </a:solidFill>
                <a:latin typeface="Georgia"/>
              </a:rPr>
              <a:t>Dashboard Preview</a:t>
            </a:r>
          </a:p>
        </p:txBody>
      </p:sp>
      <p:sp>
        <p:nvSpPr>
          <p:cNvPr id="4" name="Subtitle"/>
          <p:cNvSpPr/>
          <p:nvPr/>
        </p:nvSpPr>
        <p:spPr>
          <a:xfrm>
            <a:off x="822960" y="762000"/>
            <a:ext cx="8229600" cy="304800"/>
          </a:xfrm>
          <a:prstGeom prst="rect">
            <a:avLst/>
          </a:prstGeom>
          <a:noFill/>
        </p:spPr>
        <p:txBody>
          <a:bodyPr anchor="ctr"/>
          <a:lstStyle/>
          <a:p>
            <a:r>
              <a:rPr lang="en-US" sz="1100" i="1" dirty="0">
                <a:solidFill>
                  <a:srgbClr val="666666"/>
                </a:solidFill>
                <a:latin typeface="Calibri"/>
              </a:rPr>
              <a:t>Working prototype built with Streamlit and Plotly — real UI layout showing the patient-facing dashboard</a:t>
            </a:r>
          </a:p>
        </p:txBody>
      </p:sp>
      <p:pic>
        <p:nvPicPr>
          <p:cNvPr id="5" name="DashImg1"/>
          <p:cNvPicPr/>
          <p:nvPr/>
        </p:nvPicPr>
        <p:blipFill>
          <a:blip r:embed="rId3"/>
          <a:stretch>
            <a:fillRect/>
          </a:stretch>
        </p:blipFill>
        <p:spPr>
          <a:xfrm>
            <a:off x="274638" y="1143000"/>
            <a:ext cx="4115562" cy="2590800"/>
          </a:xfrm>
          <a:prstGeom prst="rect">
            <a:avLst/>
          </a:prstGeom>
          <a:ln w="9525">
            <a:solidFill>
              <a:srgbClr val="D4A0A0"/>
            </a:solidFill>
          </a:ln>
        </p:spPr>
      </p:pic>
      <p:pic>
        <p:nvPicPr>
          <p:cNvPr id="6" name="DashImg2"/>
          <p:cNvPicPr/>
          <p:nvPr/>
        </p:nvPicPr>
        <p:blipFill>
          <a:blip r:embed="rId4"/>
          <a:stretch>
            <a:fillRect/>
          </a:stretch>
        </p:blipFill>
        <p:spPr>
          <a:xfrm>
            <a:off x="4753800" y="1143000"/>
            <a:ext cx="4115562" cy="2590800"/>
          </a:xfrm>
          <a:prstGeom prst="rect">
            <a:avLst/>
          </a:prstGeom>
          <a:ln w="9525">
            <a:solidFill>
              <a:srgbClr val="D4A0A0"/>
            </a:solidFill>
          </a:ln>
        </p:spPr>
      </p:pic>
      <p:sp>
        <p:nvSpPr>
          <p:cNvPr id="7" name="Cap1"/>
          <p:cNvSpPr/>
          <p:nvPr/>
        </p:nvSpPr>
        <p:spPr>
          <a:xfrm>
            <a:off x="274638" y="3810000"/>
            <a:ext cx="4115562" cy="304800"/>
          </a:xfrm>
          <a:prstGeom prst="rect">
            <a:avLst/>
          </a:prstGeom>
          <a:solidFill>
            <a:srgbClr val="F5E6E6"/>
          </a:solidFill>
          <a:ln w="9525">
            <a:solidFill>
              <a:srgbClr val="D4A0A0"/>
            </a:solidFill>
          </a:ln>
        </p:spPr>
        <p:txBody>
          <a:bodyPr anchor="ctr"/>
          <a:lstStyle/>
          <a:p>
            <a:pPr algn="ctr"/>
            <a:r>
              <a:rPr lang="en-US" sz="1000" b="1" dirty="0">
                <a:solidFill>
                  <a:srgbClr val="8B0000"/>
                </a:solidFill>
                <a:latin typeface="Calibri"/>
              </a:rPr>
              <a:t>Risk Score Gauge &amp; Stats vs. Thresholds</a:t>
            </a:r>
          </a:p>
        </p:txBody>
      </p:sp>
      <p:sp>
        <p:nvSpPr>
          <p:cNvPr id="8" name="Cap2"/>
          <p:cNvSpPr/>
          <p:nvPr/>
        </p:nvSpPr>
        <p:spPr>
          <a:xfrm>
            <a:off x="4753800" y="3810000"/>
            <a:ext cx="4115562" cy="304800"/>
          </a:xfrm>
          <a:prstGeom prst="rect">
            <a:avLst/>
          </a:prstGeom>
          <a:solidFill>
            <a:srgbClr val="F5E6E6"/>
          </a:solidFill>
          <a:ln w="9525">
            <a:solidFill>
              <a:srgbClr val="D4A0A0"/>
            </a:solidFill>
          </a:ln>
        </p:spPr>
        <p:txBody>
          <a:bodyPr anchor="ctr"/>
          <a:lstStyle/>
          <a:p>
            <a:pPr algn="ctr"/>
            <a:r>
              <a:rPr lang="en-US" sz="1000" b="1" dirty="0">
                <a:solidFill>
                  <a:srgbClr val="8B0000"/>
                </a:solidFill>
                <a:latin typeface="Calibri"/>
              </a:rPr>
              <a:t>SHAP Feature Impact &amp; Personalized Recommendations</a:t>
            </a:r>
          </a:p>
        </p:txBody>
      </p:sp>
      <p:sp>
        <p:nvSpPr>
          <p:cNvPr id="9" name="BottomNote"/>
          <p:cNvSpPr/>
          <p:nvPr/>
        </p:nvSpPr>
        <p:spPr>
          <a:xfrm>
            <a:off x="274638" y="4191000"/>
            <a:ext cx="8594724" cy="457200"/>
          </a:xfrm>
          <a:prstGeom prst="rect">
            <a:avLst/>
          </a:prstGeom>
          <a:noFill/>
        </p:spPr>
        <p:txBody>
          <a:bodyPr anchor="ctr"/>
          <a:lstStyle/>
          <a:p>
            <a:pPr algn="ctr"/>
            <a:r>
              <a:rPr lang="en-US" sz="950" i="1" dirty="0">
                <a:solidFill>
                  <a:srgbClr val="999999"/>
                </a:solidFill>
                <a:latin typeface="Calibri"/>
              </a:rPr>
              <a:t>Patient enters health metrics and receives a risk score with vital comparisons (left) · SHAP chart explains which factors drive risk, with tailored advice below (right)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347472" y="256032"/>
            <a:ext cx="384048" cy="384048"/>
          </a:xfrm>
          <a:prstGeom prst="rect">
            <a:avLst/>
          </a:prstGeom>
        </p:spPr>
      </p:pic>
      <p:sp>
        <p:nvSpPr>
          <p:cNvPr id="4" name="Text 1"/>
          <p:cNvSpPr/>
          <p:nvPr/>
        </p:nvSpPr>
        <p:spPr>
          <a:xfrm>
            <a:off x="822960" y="256032"/>
            <a:ext cx="7315200" cy="411480"/>
          </a:xfrm>
          <a:prstGeom prst="rect">
            <a:avLst/>
          </a:prstGeom>
          <a:noFill/>
          <a:ln/>
        </p:spPr>
        <p:txBody>
          <a:bodyPr wrap="square" lIns="0" tIns="0" rIns="0" bIns="0" rtlCol="0" anchor="ctr"/>
          <a:lstStyle/>
          <a:p>
            <a:pPr marL="0" indent="0">
              <a:buNone/>
            </a:pPr>
            <a:r>
              <a:rPr lang="en-US" sz="2800" b="1" dirty="0">
                <a:solidFill>
                  <a:srgbClr val="8B0000"/>
                </a:solidFill>
                <a:latin typeface="Georgia" pitchFamily="34" charset="0"/>
                <a:ea typeface="Georgia" pitchFamily="34" charset="-122"/>
                <a:cs typeface="Georgia" pitchFamily="34" charset="-120"/>
              </a:rPr>
              <a:t>Dataset &amp; ML Methodology</a:t>
            </a:r>
            <a:endParaRPr lang="en-US" sz="2800" dirty="0"/>
          </a:p>
        </p:txBody>
      </p:sp>
      <p:sp>
        <p:nvSpPr>
          <p:cNvPr id="5" name="Shape 2"/>
          <p:cNvSpPr/>
          <p:nvPr/>
        </p:nvSpPr>
        <p:spPr>
          <a:xfrm>
            <a:off x="347472" y="868680"/>
            <a:ext cx="3931920" cy="1554480"/>
          </a:xfrm>
          <a:prstGeom prst="rect">
            <a:avLst/>
          </a:prstGeom>
          <a:solidFill>
            <a:srgbClr val="8B0000"/>
          </a:solidFill>
          <a:ln w="12700">
            <a:solidFill>
              <a:srgbClr val="8B0000"/>
            </a:solidFill>
            <a:prstDash val="solid"/>
          </a:ln>
          <a:effectLst>
            <a:outerShdw blurRad="101600" dist="38100" dir="8100000" algn="bl" rotWithShape="0">
              <a:srgbClr val="000000">
                <a:alpha val="15000"/>
              </a:srgbClr>
            </a:outerShdw>
          </a:effectLst>
        </p:spPr>
        <p:txBody>
          <a:bodyPr/>
          <a:lstStyle/>
          <a:p>
            <a:endParaRPr lang="en-US"/>
          </a:p>
        </p:txBody>
      </p:sp>
      <p:sp>
        <p:nvSpPr>
          <p:cNvPr id="6" name="Text 3"/>
          <p:cNvSpPr/>
          <p:nvPr/>
        </p:nvSpPr>
        <p:spPr>
          <a:xfrm>
            <a:off x="502920" y="960120"/>
            <a:ext cx="356616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UCI Heart Disease Dataset</a:t>
            </a:r>
            <a:endParaRPr lang="en-US" sz="1300" dirty="0"/>
          </a:p>
        </p:txBody>
      </p:sp>
      <p:sp>
        <p:nvSpPr>
          <p:cNvPr id="7" name="Text 4"/>
          <p:cNvSpPr/>
          <p:nvPr/>
        </p:nvSpPr>
        <p:spPr>
          <a:xfrm>
            <a:off x="502920" y="1389888"/>
            <a:ext cx="3566160" cy="228600"/>
          </a:xfrm>
          <a:prstGeom prst="rect">
            <a:avLst/>
          </a:prstGeom>
          <a:noFill/>
          <a:ln/>
        </p:spPr>
        <p:txBody>
          <a:bodyPr wrap="square" lIns="0" tIns="0" rIns="0" bIns="0" rtlCol="0" anchor="ctr"/>
          <a:lstStyle/>
          <a:p>
            <a:pPr marL="0" indent="0">
              <a:buNone/>
            </a:pPr>
            <a:r>
              <a:rPr lang="en-US" sz="1050" dirty="0">
                <a:solidFill>
                  <a:srgbClr val="E8A0A0"/>
                </a:solidFill>
                <a:latin typeface="Calibri" pitchFamily="34" charset="0"/>
                <a:ea typeface="Calibri" pitchFamily="34" charset="-122"/>
                <a:cs typeface="Calibri" pitchFamily="34" charset="-120"/>
              </a:rPr>
              <a:t>920 patients · 14 features</a:t>
            </a:r>
            <a:endParaRPr lang="en-US" sz="1050" dirty="0"/>
          </a:p>
        </p:txBody>
      </p:sp>
      <p:sp>
        <p:nvSpPr>
          <p:cNvPr id="8" name="Text 5"/>
          <p:cNvSpPr/>
          <p:nvPr/>
        </p:nvSpPr>
        <p:spPr>
          <a:xfrm>
            <a:off x="502920" y="1627632"/>
            <a:ext cx="3566160" cy="228600"/>
          </a:xfrm>
          <a:prstGeom prst="rect">
            <a:avLst/>
          </a:prstGeom>
          <a:noFill/>
          <a:ln/>
        </p:spPr>
        <p:txBody>
          <a:bodyPr wrap="square" lIns="0" tIns="0" rIns="0" bIns="0" rtlCol="0" anchor="ctr"/>
          <a:lstStyle/>
          <a:p>
            <a:pPr marL="0" indent="0">
              <a:buNone/>
            </a:pPr>
            <a:r>
              <a:rPr lang="en-US" sz="1050" dirty="0">
                <a:solidFill>
                  <a:srgbClr val="E8A0A0"/>
                </a:solidFill>
                <a:latin typeface="Calibri" pitchFamily="34" charset="0"/>
                <a:ea typeface="Calibri" pitchFamily="34" charset="-122"/>
                <a:cs typeface="Calibri" pitchFamily="34" charset="-120"/>
              </a:rPr>
              <a:t>Features: age, cholesterol, BP, heart rate…</a:t>
            </a:r>
            <a:endParaRPr lang="en-US" sz="1050" dirty="0"/>
          </a:p>
        </p:txBody>
      </p:sp>
      <p:sp>
        <p:nvSpPr>
          <p:cNvPr id="9" name="Text 6"/>
          <p:cNvSpPr/>
          <p:nvPr/>
        </p:nvSpPr>
        <p:spPr>
          <a:xfrm>
            <a:off x="502920" y="1865376"/>
            <a:ext cx="3566160" cy="228600"/>
          </a:xfrm>
          <a:prstGeom prst="rect">
            <a:avLst/>
          </a:prstGeom>
          <a:noFill/>
          <a:ln/>
        </p:spPr>
        <p:txBody>
          <a:bodyPr wrap="square" lIns="0" tIns="0" rIns="0" bIns="0" rtlCol="0" anchor="ctr"/>
          <a:lstStyle/>
          <a:p>
            <a:pPr marL="0" indent="0">
              <a:buNone/>
            </a:pPr>
            <a:r>
              <a:rPr lang="en-US" sz="1050" dirty="0">
                <a:solidFill>
                  <a:srgbClr val="E8A0A0"/>
                </a:solidFill>
                <a:latin typeface="Calibri" pitchFamily="34" charset="0"/>
                <a:ea typeface="Calibri" pitchFamily="34" charset="-122"/>
                <a:cs typeface="Calibri" pitchFamily="34" charset="-120"/>
              </a:rPr>
              <a:t>Target: presence of heart disease (binary)</a:t>
            </a:r>
            <a:endParaRPr lang="en-US" sz="1050" dirty="0"/>
          </a:p>
        </p:txBody>
      </p:sp>
      <p:sp>
        <p:nvSpPr>
          <p:cNvPr id="10" name="Text 7"/>
          <p:cNvSpPr/>
          <p:nvPr/>
        </p:nvSpPr>
        <p:spPr>
          <a:xfrm>
            <a:off x="502920" y="2103120"/>
            <a:ext cx="3566160" cy="228600"/>
          </a:xfrm>
          <a:prstGeom prst="rect">
            <a:avLst/>
          </a:prstGeom>
          <a:noFill/>
          <a:ln/>
        </p:spPr>
        <p:txBody>
          <a:bodyPr wrap="square" lIns="0" tIns="0" rIns="0" bIns="0" rtlCol="0" anchor="ctr"/>
          <a:lstStyle/>
          <a:p>
            <a:pPr marL="0" indent="0">
              <a:buNone/>
            </a:pPr>
            <a:r>
              <a:rPr lang="en-US" sz="1050" dirty="0">
                <a:solidFill>
                  <a:srgbClr val="E8A0A0"/>
                </a:solidFill>
                <a:latin typeface="Calibri" pitchFamily="34" charset="0"/>
                <a:ea typeface="Calibri" pitchFamily="34" charset="-122"/>
                <a:cs typeface="Calibri" pitchFamily="34" charset="-120"/>
              </a:rPr>
              <a:t>Publicly available on Kaggle</a:t>
            </a:r>
            <a:endParaRPr lang="en-US" sz="1050" dirty="0"/>
          </a:p>
        </p:txBody>
      </p:sp>
      <p:sp>
        <p:nvSpPr>
          <p:cNvPr id="11" name="Text 8"/>
          <p:cNvSpPr/>
          <p:nvPr/>
        </p:nvSpPr>
        <p:spPr>
          <a:xfrm>
            <a:off x="4572000" y="868680"/>
            <a:ext cx="4114800" cy="347472"/>
          </a:xfrm>
          <a:prstGeom prst="rect">
            <a:avLst/>
          </a:prstGeom>
          <a:noFill/>
          <a:ln/>
        </p:spPr>
        <p:txBody>
          <a:bodyPr wrap="square" lIns="0" tIns="0" rIns="0" bIns="0" rtlCol="0" anchor="ctr"/>
          <a:lstStyle/>
          <a:p>
            <a:pPr marL="0" indent="0">
              <a:buNone/>
            </a:pPr>
            <a:r>
              <a:rPr lang="en-US" sz="1300" b="1" dirty="0">
                <a:solidFill>
                  <a:srgbClr val="8B0000"/>
                </a:solidFill>
                <a:latin typeface="Calibri" pitchFamily="34" charset="0"/>
                <a:ea typeface="Calibri" pitchFamily="34" charset="-122"/>
                <a:cs typeface="Calibri" pitchFamily="34" charset="-120"/>
              </a:rPr>
              <a:t>Models Compared</a:t>
            </a:r>
            <a:endParaRPr lang="en-US" sz="1300" dirty="0"/>
          </a:p>
        </p:txBody>
      </p:sp>
      <p:sp>
        <p:nvSpPr>
          <p:cNvPr id="12" name="Shape 9"/>
          <p:cNvSpPr/>
          <p:nvPr/>
        </p:nvSpPr>
        <p:spPr>
          <a:xfrm>
            <a:off x="4572000" y="1298448"/>
            <a:ext cx="4206240" cy="320040"/>
          </a:xfrm>
          <a:prstGeom prst="rect">
            <a:avLst/>
          </a:prstGeom>
          <a:solidFill>
            <a:srgbClr val="F5E6E6"/>
          </a:solidFill>
          <a:ln w="12700">
            <a:solidFill>
              <a:srgbClr val="D4A0A0"/>
            </a:solidFill>
            <a:prstDash val="solid"/>
          </a:ln>
        </p:spPr>
        <p:txBody>
          <a:bodyPr/>
          <a:lstStyle/>
          <a:p>
            <a:endParaRPr lang="en-US"/>
          </a:p>
        </p:txBody>
      </p:sp>
      <p:sp>
        <p:nvSpPr>
          <p:cNvPr id="13" name="Shape 10"/>
          <p:cNvSpPr/>
          <p:nvPr/>
        </p:nvSpPr>
        <p:spPr>
          <a:xfrm>
            <a:off x="4572000" y="1298448"/>
            <a:ext cx="64008" cy="320040"/>
          </a:xfrm>
          <a:prstGeom prst="rect">
            <a:avLst/>
          </a:prstGeom>
          <a:solidFill>
            <a:srgbClr val="8B0000"/>
          </a:solidFill>
          <a:ln w="12700">
            <a:solidFill>
              <a:srgbClr val="8B0000"/>
            </a:solidFill>
            <a:prstDash val="solid"/>
          </a:ln>
        </p:spPr>
        <p:txBody>
          <a:bodyPr/>
          <a:lstStyle/>
          <a:p>
            <a:endParaRPr lang="en-US"/>
          </a:p>
        </p:txBody>
      </p:sp>
      <p:sp>
        <p:nvSpPr>
          <p:cNvPr id="14" name="Text 11"/>
          <p:cNvSpPr/>
          <p:nvPr/>
        </p:nvSpPr>
        <p:spPr>
          <a:xfrm>
            <a:off x="4709160" y="1325880"/>
            <a:ext cx="3931920" cy="274320"/>
          </a:xfrm>
          <a:prstGeom prst="rect">
            <a:avLst/>
          </a:prstGeom>
          <a:noFill/>
          <a:ln/>
        </p:spPr>
        <p:txBody>
          <a:bodyPr wrap="square" lIns="0" tIns="0" rIns="0" bIns="0" rtlCol="0" anchor="ctr"/>
          <a:lstStyle/>
          <a:p>
            <a:pPr marL="0" indent="0">
              <a:buNone/>
            </a:pPr>
            <a:r>
              <a:rPr lang="en-US" sz="1100" dirty="0">
                <a:solidFill>
                  <a:srgbClr val="2C2C2C"/>
                </a:solidFill>
                <a:latin typeface="Calibri" pitchFamily="34" charset="0"/>
                <a:ea typeface="Calibri" pitchFamily="34" charset="-122"/>
                <a:cs typeface="Calibri" pitchFamily="34" charset="-120"/>
              </a:rPr>
              <a:t>Logistic Regression</a:t>
            </a:r>
            <a:endParaRPr lang="en-US" sz="1100" dirty="0"/>
          </a:p>
        </p:txBody>
      </p:sp>
      <p:sp>
        <p:nvSpPr>
          <p:cNvPr id="15" name="Shape 12"/>
          <p:cNvSpPr/>
          <p:nvPr/>
        </p:nvSpPr>
        <p:spPr>
          <a:xfrm>
            <a:off x="4572000" y="1682496"/>
            <a:ext cx="4206240" cy="320040"/>
          </a:xfrm>
          <a:prstGeom prst="rect">
            <a:avLst/>
          </a:prstGeom>
          <a:solidFill>
            <a:srgbClr val="F5E6E6"/>
          </a:solidFill>
          <a:ln w="12700">
            <a:solidFill>
              <a:srgbClr val="D4A0A0"/>
            </a:solidFill>
            <a:prstDash val="solid"/>
          </a:ln>
        </p:spPr>
        <p:txBody>
          <a:bodyPr/>
          <a:lstStyle/>
          <a:p>
            <a:endParaRPr lang="en-US"/>
          </a:p>
        </p:txBody>
      </p:sp>
      <p:sp>
        <p:nvSpPr>
          <p:cNvPr id="16" name="Shape 13"/>
          <p:cNvSpPr/>
          <p:nvPr/>
        </p:nvSpPr>
        <p:spPr>
          <a:xfrm>
            <a:off x="4572000" y="1682496"/>
            <a:ext cx="64008" cy="320040"/>
          </a:xfrm>
          <a:prstGeom prst="rect">
            <a:avLst/>
          </a:prstGeom>
          <a:solidFill>
            <a:srgbClr val="8B0000"/>
          </a:solidFill>
          <a:ln w="12700">
            <a:solidFill>
              <a:srgbClr val="8B0000"/>
            </a:solidFill>
            <a:prstDash val="solid"/>
          </a:ln>
        </p:spPr>
        <p:txBody>
          <a:bodyPr/>
          <a:lstStyle/>
          <a:p>
            <a:endParaRPr lang="en-US"/>
          </a:p>
        </p:txBody>
      </p:sp>
      <p:sp>
        <p:nvSpPr>
          <p:cNvPr id="17" name="Text 14"/>
          <p:cNvSpPr/>
          <p:nvPr/>
        </p:nvSpPr>
        <p:spPr>
          <a:xfrm>
            <a:off x="4709160" y="1709928"/>
            <a:ext cx="3931920" cy="274320"/>
          </a:xfrm>
          <a:prstGeom prst="rect">
            <a:avLst/>
          </a:prstGeom>
          <a:noFill/>
          <a:ln/>
        </p:spPr>
        <p:txBody>
          <a:bodyPr wrap="square" lIns="0" tIns="0" rIns="0" bIns="0" rtlCol="0" anchor="ctr"/>
          <a:lstStyle/>
          <a:p>
            <a:pPr marL="0" indent="0">
              <a:buNone/>
            </a:pPr>
            <a:r>
              <a:rPr lang="en-US" sz="1100" dirty="0">
                <a:solidFill>
                  <a:srgbClr val="2C2C2C"/>
                </a:solidFill>
                <a:latin typeface="Calibri" pitchFamily="34" charset="0"/>
                <a:ea typeface="Calibri" pitchFamily="34" charset="-122"/>
                <a:cs typeface="Calibri" pitchFamily="34" charset="-120"/>
              </a:rPr>
              <a:t>Random Forest</a:t>
            </a:r>
            <a:endParaRPr lang="en-US" sz="1100" dirty="0"/>
          </a:p>
        </p:txBody>
      </p:sp>
      <p:sp>
        <p:nvSpPr>
          <p:cNvPr id="18" name="Shape 15"/>
          <p:cNvSpPr/>
          <p:nvPr/>
        </p:nvSpPr>
        <p:spPr>
          <a:xfrm>
            <a:off x="4572000" y="2066544"/>
            <a:ext cx="4206240" cy="320040"/>
          </a:xfrm>
          <a:prstGeom prst="rect">
            <a:avLst/>
          </a:prstGeom>
          <a:solidFill>
            <a:srgbClr val="F5E6E6"/>
          </a:solidFill>
          <a:ln w="12700">
            <a:solidFill>
              <a:srgbClr val="D4A0A0"/>
            </a:solidFill>
            <a:prstDash val="solid"/>
          </a:ln>
        </p:spPr>
        <p:txBody>
          <a:bodyPr/>
          <a:lstStyle/>
          <a:p>
            <a:endParaRPr lang="en-US"/>
          </a:p>
        </p:txBody>
      </p:sp>
      <p:sp>
        <p:nvSpPr>
          <p:cNvPr id="19" name="Shape 16"/>
          <p:cNvSpPr/>
          <p:nvPr/>
        </p:nvSpPr>
        <p:spPr>
          <a:xfrm>
            <a:off x="4572000" y="2066544"/>
            <a:ext cx="64008" cy="320040"/>
          </a:xfrm>
          <a:prstGeom prst="rect">
            <a:avLst/>
          </a:prstGeom>
          <a:solidFill>
            <a:srgbClr val="8B0000"/>
          </a:solidFill>
          <a:ln w="12700">
            <a:solidFill>
              <a:srgbClr val="8B0000"/>
            </a:solidFill>
            <a:prstDash val="solid"/>
          </a:ln>
        </p:spPr>
        <p:txBody>
          <a:bodyPr/>
          <a:lstStyle/>
          <a:p>
            <a:endParaRPr lang="en-US"/>
          </a:p>
        </p:txBody>
      </p:sp>
      <p:sp>
        <p:nvSpPr>
          <p:cNvPr id="20" name="Text 17"/>
          <p:cNvSpPr/>
          <p:nvPr/>
        </p:nvSpPr>
        <p:spPr>
          <a:xfrm>
            <a:off x="4709160" y="2093976"/>
            <a:ext cx="3931920" cy="274320"/>
          </a:xfrm>
          <a:prstGeom prst="rect">
            <a:avLst/>
          </a:prstGeom>
          <a:noFill/>
          <a:ln/>
        </p:spPr>
        <p:txBody>
          <a:bodyPr wrap="square" lIns="0" tIns="0" rIns="0" bIns="0" rtlCol="0" anchor="ctr"/>
          <a:lstStyle/>
          <a:p>
            <a:pPr marL="0" indent="0">
              <a:buNone/>
            </a:pPr>
            <a:r>
              <a:rPr lang="en-US" sz="1100" dirty="0">
                <a:solidFill>
                  <a:srgbClr val="2C2C2C"/>
                </a:solidFill>
                <a:latin typeface="Calibri" pitchFamily="34" charset="0"/>
                <a:ea typeface="Calibri" pitchFamily="34" charset="-122"/>
                <a:cs typeface="Calibri" pitchFamily="34" charset="-120"/>
              </a:rPr>
              <a:t>XGBoost</a:t>
            </a:r>
            <a:endParaRPr lang="en-US" sz="1100" dirty="0"/>
          </a:p>
        </p:txBody>
      </p:sp>
      <p:sp>
        <p:nvSpPr>
          <p:cNvPr id="21" name="Text 18"/>
          <p:cNvSpPr/>
          <p:nvPr/>
        </p:nvSpPr>
        <p:spPr>
          <a:xfrm>
            <a:off x="347472" y="2606040"/>
            <a:ext cx="8412480" cy="347472"/>
          </a:xfrm>
          <a:prstGeom prst="rect">
            <a:avLst/>
          </a:prstGeom>
          <a:noFill/>
          <a:ln/>
        </p:spPr>
        <p:txBody>
          <a:bodyPr wrap="square" lIns="0" tIns="0" rIns="0" bIns="0" rtlCol="0" anchor="ctr"/>
          <a:lstStyle/>
          <a:p>
            <a:pPr marL="0" indent="0">
              <a:buNone/>
            </a:pPr>
            <a:r>
              <a:rPr lang="en-US" sz="1300" b="1" dirty="0">
                <a:solidFill>
                  <a:srgbClr val="8B0000"/>
                </a:solidFill>
                <a:latin typeface="Calibri" pitchFamily="34" charset="0"/>
                <a:ea typeface="Calibri" pitchFamily="34" charset="-122"/>
                <a:cs typeface="Calibri" pitchFamily="34" charset="-120"/>
              </a:rPr>
              <a:t>Evaluation Approach</a:t>
            </a:r>
            <a:endParaRPr lang="en-US" sz="1300" dirty="0"/>
          </a:p>
        </p:txBody>
      </p:sp>
      <p:sp>
        <p:nvSpPr>
          <p:cNvPr id="22" name="Shape 19"/>
          <p:cNvSpPr/>
          <p:nvPr/>
        </p:nvSpPr>
        <p:spPr>
          <a:xfrm>
            <a:off x="347472" y="3063240"/>
            <a:ext cx="3931920" cy="530352"/>
          </a:xfrm>
          <a:prstGeom prst="rect">
            <a:avLst/>
          </a:prstGeom>
          <a:solidFill>
            <a:srgbClr val="FFFFFF"/>
          </a:solidFill>
          <a:ln w="12700">
            <a:solidFill>
              <a:srgbClr val="D4A0A0"/>
            </a:solidFill>
            <a:prstDash val="solid"/>
          </a:ln>
        </p:spPr>
        <p:txBody>
          <a:bodyPr/>
          <a:lstStyle/>
          <a:p>
            <a:endParaRPr lang="en-US"/>
          </a:p>
        </p:txBody>
      </p:sp>
      <p:sp>
        <p:nvSpPr>
          <p:cNvPr id="23" name="Shape 20"/>
          <p:cNvSpPr/>
          <p:nvPr/>
        </p:nvSpPr>
        <p:spPr>
          <a:xfrm>
            <a:off x="347472" y="3063240"/>
            <a:ext cx="64008" cy="530352"/>
          </a:xfrm>
          <a:prstGeom prst="rect">
            <a:avLst/>
          </a:prstGeom>
          <a:solidFill>
            <a:srgbClr val="8B0000"/>
          </a:solidFill>
          <a:ln w="12700">
            <a:solidFill>
              <a:srgbClr val="8B0000"/>
            </a:solidFill>
            <a:prstDash val="solid"/>
          </a:ln>
        </p:spPr>
        <p:txBody>
          <a:bodyPr/>
          <a:lstStyle/>
          <a:p>
            <a:endParaRPr lang="en-US"/>
          </a:p>
        </p:txBody>
      </p:sp>
      <p:sp>
        <p:nvSpPr>
          <p:cNvPr id="24" name="Text 21"/>
          <p:cNvSpPr/>
          <p:nvPr/>
        </p:nvSpPr>
        <p:spPr>
          <a:xfrm>
            <a:off x="512064" y="3099816"/>
            <a:ext cx="3566160" cy="228600"/>
          </a:xfrm>
          <a:prstGeom prst="rect">
            <a:avLst/>
          </a:prstGeom>
          <a:noFill/>
          <a:ln/>
        </p:spPr>
        <p:txBody>
          <a:bodyPr wrap="square" lIns="0" tIns="0" rIns="0" bIns="0" rtlCol="0" anchor="ctr"/>
          <a:lstStyle/>
          <a:p>
            <a:pPr marL="0" indent="0">
              <a:buNone/>
            </a:pPr>
            <a:r>
              <a:rPr lang="en-US" sz="1000" b="1" dirty="0">
                <a:solidFill>
                  <a:srgbClr val="8B0000"/>
                </a:solidFill>
                <a:latin typeface="Calibri" pitchFamily="34" charset="0"/>
                <a:ea typeface="Calibri" pitchFamily="34" charset="-122"/>
                <a:cs typeface="Calibri" pitchFamily="34" charset="-120"/>
              </a:rPr>
              <a:t>Metrics</a:t>
            </a:r>
            <a:endParaRPr lang="en-US" sz="1000" dirty="0"/>
          </a:p>
        </p:txBody>
      </p:sp>
      <p:sp>
        <p:nvSpPr>
          <p:cNvPr id="25" name="Text 22"/>
          <p:cNvSpPr/>
          <p:nvPr/>
        </p:nvSpPr>
        <p:spPr>
          <a:xfrm>
            <a:off x="512064" y="3319272"/>
            <a:ext cx="3566160" cy="228600"/>
          </a:xfrm>
          <a:prstGeom prst="rect">
            <a:avLst/>
          </a:prstGeom>
          <a:noFill/>
          <a:ln/>
        </p:spPr>
        <p:txBody>
          <a:bodyPr wrap="square" lIns="0" tIns="0" rIns="0" bIns="0" rtlCol="0" anchor="ctr"/>
          <a:lstStyle/>
          <a:p>
            <a:pPr marL="0" indent="0">
              <a:buNone/>
            </a:pPr>
            <a:r>
              <a:rPr lang="en-US" sz="1000" dirty="0">
                <a:solidFill>
                  <a:srgbClr val="2C2C2C"/>
                </a:solidFill>
                <a:latin typeface="Calibri" pitchFamily="34" charset="0"/>
                <a:ea typeface="Calibri" pitchFamily="34" charset="-122"/>
                <a:cs typeface="Calibri" pitchFamily="34" charset="-120"/>
              </a:rPr>
              <a:t>AUC-ROC, F1 Score, Precision, Recall</a:t>
            </a:r>
            <a:endParaRPr lang="en-US" sz="1000" dirty="0"/>
          </a:p>
        </p:txBody>
      </p:sp>
      <p:sp>
        <p:nvSpPr>
          <p:cNvPr id="26" name="Shape 23"/>
          <p:cNvSpPr/>
          <p:nvPr/>
        </p:nvSpPr>
        <p:spPr>
          <a:xfrm>
            <a:off x="347472" y="3703320"/>
            <a:ext cx="3931920" cy="530352"/>
          </a:xfrm>
          <a:prstGeom prst="rect">
            <a:avLst/>
          </a:prstGeom>
          <a:solidFill>
            <a:srgbClr val="FFFFFF"/>
          </a:solidFill>
          <a:ln w="12700">
            <a:solidFill>
              <a:srgbClr val="D4A0A0"/>
            </a:solidFill>
            <a:prstDash val="solid"/>
          </a:ln>
        </p:spPr>
        <p:txBody>
          <a:bodyPr/>
          <a:lstStyle/>
          <a:p>
            <a:endParaRPr lang="en-US"/>
          </a:p>
        </p:txBody>
      </p:sp>
      <p:sp>
        <p:nvSpPr>
          <p:cNvPr id="27" name="Shape 24"/>
          <p:cNvSpPr/>
          <p:nvPr/>
        </p:nvSpPr>
        <p:spPr>
          <a:xfrm>
            <a:off x="347472" y="3703320"/>
            <a:ext cx="64008" cy="530352"/>
          </a:xfrm>
          <a:prstGeom prst="rect">
            <a:avLst/>
          </a:prstGeom>
          <a:solidFill>
            <a:srgbClr val="8B0000"/>
          </a:solidFill>
          <a:ln w="12700">
            <a:solidFill>
              <a:srgbClr val="8B0000"/>
            </a:solidFill>
            <a:prstDash val="solid"/>
          </a:ln>
        </p:spPr>
        <p:txBody>
          <a:bodyPr/>
          <a:lstStyle/>
          <a:p>
            <a:endParaRPr lang="en-US"/>
          </a:p>
        </p:txBody>
      </p:sp>
      <p:sp>
        <p:nvSpPr>
          <p:cNvPr id="28" name="Text 25"/>
          <p:cNvSpPr/>
          <p:nvPr/>
        </p:nvSpPr>
        <p:spPr>
          <a:xfrm>
            <a:off x="512064" y="3739896"/>
            <a:ext cx="3566160" cy="228600"/>
          </a:xfrm>
          <a:prstGeom prst="rect">
            <a:avLst/>
          </a:prstGeom>
          <a:noFill/>
          <a:ln/>
        </p:spPr>
        <p:txBody>
          <a:bodyPr wrap="square" lIns="0" tIns="0" rIns="0" bIns="0" rtlCol="0" anchor="ctr"/>
          <a:lstStyle/>
          <a:p>
            <a:pPr marL="0" indent="0">
              <a:buNone/>
            </a:pPr>
            <a:r>
              <a:rPr lang="en-US" sz="1000" b="1" dirty="0">
                <a:solidFill>
                  <a:srgbClr val="8B0000"/>
                </a:solidFill>
                <a:latin typeface="Calibri" pitchFamily="34" charset="0"/>
                <a:ea typeface="Calibri" pitchFamily="34" charset="-122"/>
                <a:cs typeface="Calibri" pitchFamily="34" charset="-120"/>
              </a:rPr>
              <a:t>Validation</a:t>
            </a:r>
            <a:endParaRPr lang="en-US" sz="1000" dirty="0"/>
          </a:p>
        </p:txBody>
      </p:sp>
      <p:sp>
        <p:nvSpPr>
          <p:cNvPr id="29" name="Text 26"/>
          <p:cNvSpPr/>
          <p:nvPr/>
        </p:nvSpPr>
        <p:spPr>
          <a:xfrm>
            <a:off x="512064" y="3959352"/>
            <a:ext cx="3566160" cy="228600"/>
          </a:xfrm>
          <a:prstGeom prst="rect">
            <a:avLst/>
          </a:prstGeom>
          <a:noFill/>
          <a:ln/>
        </p:spPr>
        <p:txBody>
          <a:bodyPr wrap="square" lIns="0" tIns="0" rIns="0" bIns="0" rtlCol="0" anchor="ctr"/>
          <a:lstStyle/>
          <a:p>
            <a:pPr marL="0" indent="0">
              <a:buNone/>
            </a:pPr>
            <a:r>
              <a:rPr lang="en-US" sz="1000" dirty="0">
                <a:solidFill>
                  <a:srgbClr val="2C2C2C"/>
                </a:solidFill>
                <a:latin typeface="Calibri" pitchFamily="34" charset="0"/>
                <a:ea typeface="Calibri" pitchFamily="34" charset="-122"/>
                <a:cs typeface="Calibri" pitchFamily="34" charset="-120"/>
              </a:rPr>
              <a:t>Stratified 5-fold cross-validation</a:t>
            </a:r>
            <a:endParaRPr lang="en-US" sz="1000" dirty="0"/>
          </a:p>
        </p:txBody>
      </p:sp>
      <p:sp>
        <p:nvSpPr>
          <p:cNvPr id="30" name="Shape 27"/>
          <p:cNvSpPr/>
          <p:nvPr/>
        </p:nvSpPr>
        <p:spPr>
          <a:xfrm>
            <a:off x="4572000" y="3063240"/>
            <a:ext cx="3931920" cy="530352"/>
          </a:xfrm>
          <a:prstGeom prst="rect">
            <a:avLst/>
          </a:prstGeom>
          <a:solidFill>
            <a:srgbClr val="FFFFFF"/>
          </a:solidFill>
          <a:ln w="12700">
            <a:solidFill>
              <a:srgbClr val="D4A0A0"/>
            </a:solidFill>
            <a:prstDash val="solid"/>
          </a:ln>
        </p:spPr>
        <p:txBody>
          <a:bodyPr/>
          <a:lstStyle/>
          <a:p>
            <a:endParaRPr lang="en-US"/>
          </a:p>
        </p:txBody>
      </p:sp>
      <p:sp>
        <p:nvSpPr>
          <p:cNvPr id="31" name="Shape 28"/>
          <p:cNvSpPr/>
          <p:nvPr/>
        </p:nvSpPr>
        <p:spPr>
          <a:xfrm>
            <a:off x="4572000" y="3063240"/>
            <a:ext cx="64008" cy="530352"/>
          </a:xfrm>
          <a:prstGeom prst="rect">
            <a:avLst/>
          </a:prstGeom>
          <a:solidFill>
            <a:srgbClr val="8B0000"/>
          </a:solidFill>
          <a:ln w="12700">
            <a:solidFill>
              <a:srgbClr val="8B0000"/>
            </a:solidFill>
            <a:prstDash val="solid"/>
          </a:ln>
        </p:spPr>
        <p:txBody>
          <a:bodyPr/>
          <a:lstStyle/>
          <a:p>
            <a:endParaRPr lang="en-US"/>
          </a:p>
        </p:txBody>
      </p:sp>
      <p:sp>
        <p:nvSpPr>
          <p:cNvPr id="32" name="Text 29"/>
          <p:cNvSpPr/>
          <p:nvPr/>
        </p:nvSpPr>
        <p:spPr>
          <a:xfrm>
            <a:off x="4736592" y="3099816"/>
            <a:ext cx="3566160" cy="228600"/>
          </a:xfrm>
          <a:prstGeom prst="rect">
            <a:avLst/>
          </a:prstGeom>
          <a:noFill/>
          <a:ln/>
        </p:spPr>
        <p:txBody>
          <a:bodyPr wrap="square" lIns="0" tIns="0" rIns="0" bIns="0" rtlCol="0" anchor="ctr"/>
          <a:lstStyle/>
          <a:p>
            <a:pPr marL="0" indent="0">
              <a:buNone/>
            </a:pPr>
            <a:r>
              <a:rPr lang="en-US" sz="1000" b="1" dirty="0">
                <a:solidFill>
                  <a:srgbClr val="8B0000"/>
                </a:solidFill>
                <a:latin typeface="Calibri" pitchFamily="34" charset="0"/>
                <a:ea typeface="Calibri" pitchFamily="34" charset="-122"/>
                <a:cs typeface="Calibri" pitchFamily="34" charset="-120"/>
              </a:rPr>
              <a:t>Imbalance</a:t>
            </a:r>
            <a:endParaRPr lang="en-US" sz="1000" dirty="0"/>
          </a:p>
        </p:txBody>
      </p:sp>
      <p:sp>
        <p:nvSpPr>
          <p:cNvPr id="33" name="Text 30"/>
          <p:cNvSpPr/>
          <p:nvPr/>
        </p:nvSpPr>
        <p:spPr>
          <a:xfrm>
            <a:off x="4736592" y="3319272"/>
            <a:ext cx="3566160" cy="228600"/>
          </a:xfrm>
          <a:prstGeom prst="rect">
            <a:avLst/>
          </a:prstGeom>
          <a:noFill/>
          <a:ln/>
        </p:spPr>
        <p:txBody>
          <a:bodyPr wrap="square" lIns="0" tIns="0" rIns="0" bIns="0" rtlCol="0" anchor="ctr"/>
          <a:lstStyle/>
          <a:p>
            <a:pPr marL="0" indent="0">
              <a:buNone/>
            </a:pPr>
            <a:r>
              <a:rPr lang="en-US" sz="1000" dirty="0">
                <a:solidFill>
                  <a:srgbClr val="2C2C2C"/>
                </a:solidFill>
                <a:latin typeface="Calibri" pitchFamily="34" charset="0"/>
                <a:ea typeface="Calibri" pitchFamily="34" charset="-122"/>
                <a:cs typeface="Calibri" pitchFamily="34" charset="-120"/>
              </a:rPr>
              <a:t>SMOTE oversampling or class weighting</a:t>
            </a:r>
            <a:endParaRPr lang="en-US" sz="1000" dirty="0"/>
          </a:p>
        </p:txBody>
      </p:sp>
      <p:sp>
        <p:nvSpPr>
          <p:cNvPr id="34" name="Shape 31"/>
          <p:cNvSpPr/>
          <p:nvPr/>
        </p:nvSpPr>
        <p:spPr>
          <a:xfrm>
            <a:off x="4572000" y="3703320"/>
            <a:ext cx="3931920" cy="530352"/>
          </a:xfrm>
          <a:prstGeom prst="rect">
            <a:avLst/>
          </a:prstGeom>
          <a:solidFill>
            <a:srgbClr val="FFFFFF"/>
          </a:solidFill>
          <a:ln w="12700">
            <a:solidFill>
              <a:srgbClr val="D4A0A0"/>
            </a:solidFill>
            <a:prstDash val="solid"/>
          </a:ln>
        </p:spPr>
        <p:txBody>
          <a:bodyPr/>
          <a:lstStyle/>
          <a:p>
            <a:endParaRPr lang="en-US"/>
          </a:p>
        </p:txBody>
      </p:sp>
      <p:sp>
        <p:nvSpPr>
          <p:cNvPr id="35" name="Shape 32"/>
          <p:cNvSpPr/>
          <p:nvPr/>
        </p:nvSpPr>
        <p:spPr>
          <a:xfrm>
            <a:off x="4572000" y="3703320"/>
            <a:ext cx="64008" cy="530352"/>
          </a:xfrm>
          <a:prstGeom prst="rect">
            <a:avLst/>
          </a:prstGeom>
          <a:solidFill>
            <a:srgbClr val="8B0000"/>
          </a:solidFill>
          <a:ln w="12700">
            <a:solidFill>
              <a:srgbClr val="8B0000"/>
            </a:solidFill>
            <a:prstDash val="solid"/>
          </a:ln>
        </p:spPr>
        <p:txBody>
          <a:bodyPr/>
          <a:lstStyle/>
          <a:p>
            <a:endParaRPr lang="en-US"/>
          </a:p>
        </p:txBody>
      </p:sp>
      <p:sp>
        <p:nvSpPr>
          <p:cNvPr id="36" name="Text 33"/>
          <p:cNvSpPr/>
          <p:nvPr/>
        </p:nvSpPr>
        <p:spPr>
          <a:xfrm>
            <a:off x="4736592" y="3739896"/>
            <a:ext cx="3566160" cy="228600"/>
          </a:xfrm>
          <a:prstGeom prst="rect">
            <a:avLst/>
          </a:prstGeom>
          <a:noFill/>
          <a:ln/>
        </p:spPr>
        <p:txBody>
          <a:bodyPr wrap="square" lIns="0" tIns="0" rIns="0" bIns="0" rtlCol="0" anchor="ctr"/>
          <a:lstStyle/>
          <a:p>
            <a:pPr marL="0" indent="0">
              <a:buNone/>
            </a:pPr>
            <a:r>
              <a:rPr lang="en-US" sz="1000" b="1" dirty="0">
                <a:solidFill>
                  <a:srgbClr val="8B0000"/>
                </a:solidFill>
                <a:latin typeface="Calibri" pitchFamily="34" charset="0"/>
                <a:ea typeface="Calibri" pitchFamily="34" charset="-122"/>
                <a:cs typeface="Calibri" pitchFamily="34" charset="-120"/>
              </a:rPr>
              <a:t>Explainability</a:t>
            </a:r>
            <a:endParaRPr lang="en-US" sz="1000" dirty="0"/>
          </a:p>
        </p:txBody>
      </p:sp>
      <p:sp>
        <p:nvSpPr>
          <p:cNvPr id="37" name="Text 34"/>
          <p:cNvSpPr/>
          <p:nvPr/>
        </p:nvSpPr>
        <p:spPr>
          <a:xfrm>
            <a:off x="4736592" y="3959352"/>
            <a:ext cx="3566160" cy="228600"/>
          </a:xfrm>
          <a:prstGeom prst="rect">
            <a:avLst/>
          </a:prstGeom>
          <a:noFill/>
          <a:ln/>
        </p:spPr>
        <p:txBody>
          <a:bodyPr wrap="square" lIns="0" tIns="0" rIns="0" bIns="0" rtlCol="0" anchor="ctr"/>
          <a:lstStyle/>
          <a:p>
            <a:pPr marL="0" indent="0">
              <a:buNone/>
            </a:pPr>
            <a:r>
              <a:rPr lang="en-US" sz="1000" dirty="0">
                <a:solidFill>
                  <a:srgbClr val="2C2C2C"/>
                </a:solidFill>
                <a:latin typeface="Calibri" pitchFamily="34" charset="0"/>
                <a:ea typeface="Calibri" pitchFamily="34" charset="-122"/>
                <a:cs typeface="Calibri" pitchFamily="34" charset="-120"/>
              </a:rPr>
              <a:t>SHAP </a:t>
            </a:r>
            <a:r>
              <a:rPr lang="en-US" sz="1000" dirty="0" err="1">
                <a:solidFill>
                  <a:srgbClr val="2C2C2C"/>
                </a:solidFill>
                <a:latin typeface="Calibri" pitchFamily="34" charset="0"/>
                <a:ea typeface="Calibri" pitchFamily="34" charset="-122"/>
                <a:cs typeface="Calibri" pitchFamily="34" charset="-120"/>
              </a:rPr>
              <a:t>TreeExplainer</a:t>
            </a:r>
            <a:r>
              <a:rPr lang="en-US" sz="1000" dirty="0">
                <a:solidFill>
                  <a:srgbClr val="2C2C2C"/>
                </a:solidFill>
                <a:latin typeface="Calibri" pitchFamily="34" charset="0"/>
                <a:ea typeface="Calibri" pitchFamily="34" charset="-122"/>
                <a:cs typeface="Calibri" pitchFamily="34" charset="-120"/>
              </a:rPr>
              <a:t> - per-patient feature attribution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347472" y="256032"/>
            <a:ext cx="384048" cy="384048"/>
          </a:xfrm>
          <a:prstGeom prst="rect">
            <a:avLst/>
          </a:prstGeom>
        </p:spPr>
      </p:pic>
      <p:sp>
        <p:nvSpPr>
          <p:cNvPr id="4" name="Text 1"/>
          <p:cNvSpPr/>
          <p:nvPr/>
        </p:nvSpPr>
        <p:spPr>
          <a:xfrm>
            <a:off x="822960" y="256032"/>
            <a:ext cx="7315200" cy="411480"/>
          </a:xfrm>
          <a:prstGeom prst="rect">
            <a:avLst/>
          </a:prstGeom>
          <a:noFill/>
          <a:ln/>
        </p:spPr>
        <p:txBody>
          <a:bodyPr wrap="square" lIns="0" tIns="0" rIns="0" bIns="0" rtlCol="0" anchor="ctr"/>
          <a:lstStyle/>
          <a:p>
            <a:pPr marL="0" indent="0">
              <a:buNone/>
            </a:pPr>
            <a:r>
              <a:rPr lang="en-US" sz="2800" b="1" dirty="0">
                <a:solidFill>
                  <a:srgbClr val="8B0000"/>
                </a:solidFill>
                <a:latin typeface="Georgia" pitchFamily="34" charset="0"/>
                <a:ea typeface="Georgia" pitchFamily="34" charset="-122"/>
                <a:cs typeface="Georgia" pitchFamily="34" charset="-120"/>
              </a:rPr>
              <a:t>System Architecture</a:t>
            </a:r>
            <a:endParaRPr lang="en-US" sz="2800" dirty="0"/>
          </a:p>
        </p:txBody>
      </p:sp>
      <p:sp>
        <p:nvSpPr>
          <p:cNvPr id="5" name="Shape 2"/>
          <p:cNvSpPr/>
          <p:nvPr/>
        </p:nvSpPr>
        <p:spPr>
          <a:xfrm>
            <a:off x="685800" y="1097280"/>
            <a:ext cx="1737360" cy="1828800"/>
          </a:xfrm>
          <a:prstGeom prst="rect">
            <a:avLst/>
          </a:prstGeom>
          <a:solidFill>
            <a:srgbClr val="8B0000"/>
          </a:solidFill>
          <a:ln w="12700">
            <a:solidFill>
              <a:srgbClr val="8B0000"/>
            </a:solidFill>
            <a:prstDash val="solid"/>
          </a:ln>
          <a:effectLst>
            <a:outerShdw blurRad="101600" dist="38100" dir="8100000" algn="bl" rotWithShape="0">
              <a:srgbClr val="000000">
                <a:alpha val="18000"/>
              </a:srgbClr>
            </a:outerShdw>
          </a:effectLst>
        </p:spPr>
        <p:txBody>
          <a:bodyPr/>
          <a:lstStyle/>
          <a:p>
            <a:endParaRPr lang="en-US"/>
          </a:p>
        </p:txBody>
      </p:sp>
      <p:pic>
        <p:nvPicPr>
          <p:cNvPr id="6" name="Image 1" descr="preencoded.png"/>
          <p:cNvPicPr>
            <a:picLocks noChangeAspect="1"/>
          </p:cNvPicPr>
          <p:nvPr/>
        </p:nvPicPr>
        <p:blipFill>
          <a:blip r:embed="rId4"/>
          <a:stretch>
            <a:fillRect/>
          </a:stretch>
        </p:blipFill>
        <p:spPr>
          <a:xfrm>
            <a:off x="1303020" y="1298448"/>
            <a:ext cx="502920" cy="502920"/>
          </a:xfrm>
          <a:prstGeom prst="rect">
            <a:avLst/>
          </a:prstGeom>
        </p:spPr>
      </p:pic>
      <p:sp>
        <p:nvSpPr>
          <p:cNvPr id="7" name="Text 3"/>
          <p:cNvSpPr/>
          <p:nvPr/>
        </p:nvSpPr>
        <p:spPr>
          <a:xfrm>
            <a:off x="685800" y="1901952"/>
            <a:ext cx="17373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a:t>
            </a:r>
            <a:endParaRPr lang="en-US" sz="1200" dirty="0"/>
          </a:p>
        </p:txBody>
      </p:sp>
      <p:sp>
        <p:nvSpPr>
          <p:cNvPr id="8" name="Text 4"/>
          <p:cNvSpPr/>
          <p:nvPr/>
        </p:nvSpPr>
        <p:spPr>
          <a:xfrm>
            <a:off x="685800" y="2212848"/>
            <a:ext cx="1737360" cy="502920"/>
          </a:xfrm>
          <a:prstGeom prst="rect">
            <a:avLst/>
          </a:prstGeom>
          <a:noFill/>
          <a:ln/>
        </p:spPr>
        <p:txBody>
          <a:bodyPr wrap="square" lIns="0" tIns="0" rIns="0" bIns="0" rtlCol="0" anchor="ctr"/>
          <a:lstStyle/>
          <a:p>
            <a:pPr marL="0" indent="0" algn="ctr">
              <a:buNone/>
            </a:pPr>
            <a:r>
              <a:rPr lang="en-US" sz="950" dirty="0">
                <a:solidFill>
                  <a:srgbClr val="E8A0A0"/>
                </a:solidFill>
                <a:latin typeface="Calibri" pitchFamily="34" charset="0"/>
                <a:ea typeface="Calibri" pitchFamily="34" charset="-122"/>
                <a:cs typeface="Calibri" pitchFamily="34" charset="-120"/>
              </a:rPr>
              <a:t>Streamlit</a:t>
            </a:r>
            <a:endParaRPr lang="en-US" sz="950" dirty="0"/>
          </a:p>
          <a:p>
            <a:pPr marL="0" indent="0" algn="ctr">
              <a:buNone/>
            </a:pPr>
            <a:r>
              <a:rPr lang="en-US" sz="950" dirty="0">
                <a:solidFill>
                  <a:srgbClr val="E8A0A0"/>
                </a:solidFill>
                <a:latin typeface="Calibri" pitchFamily="34" charset="0"/>
                <a:ea typeface="Calibri" pitchFamily="34" charset="-122"/>
                <a:cs typeface="Calibri" pitchFamily="34" charset="-120"/>
              </a:rPr>
              <a:t>Frontend</a:t>
            </a:r>
            <a:endParaRPr lang="en-US" sz="950" dirty="0"/>
          </a:p>
        </p:txBody>
      </p:sp>
      <p:sp>
        <p:nvSpPr>
          <p:cNvPr id="9" name="Shape 5"/>
          <p:cNvSpPr/>
          <p:nvPr/>
        </p:nvSpPr>
        <p:spPr>
          <a:xfrm>
            <a:off x="2450592" y="1984248"/>
            <a:ext cx="219456" cy="54864"/>
          </a:xfrm>
          <a:prstGeom prst="rect">
            <a:avLst/>
          </a:prstGeom>
          <a:solidFill>
            <a:srgbClr val="8B0000"/>
          </a:solidFill>
          <a:ln w="12700">
            <a:solidFill>
              <a:srgbClr val="8B0000"/>
            </a:solidFill>
            <a:prstDash val="solid"/>
          </a:ln>
        </p:spPr>
        <p:txBody>
          <a:bodyPr/>
          <a:lstStyle/>
          <a:p>
            <a:endParaRPr lang="en-US"/>
          </a:p>
        </p:txBody>
      </p:sp>
      <p:sp>
        <p:nvSpPr>
          <p:cNvPr id="10" name="Shape 6"/>
          <p:cNvSpPr/>
          <p:nvPr/>
        </p:nvSpPr>
        <p:spPr>
          <a:xfrm>
            <a:off x="2642616" y="1911096"/>
            <a:ext cx="91440" cy="201168"/>
          </a:xfrm>
          <a:prstGeom prst="rect">
            <a:avLst/>
          </a:prstGeom>
          <a:solidFill>
            <a:srgbClr val="8B0000"/>
          </a:solidFill>
          <a:ln w="12700">
            <a:solidFill>
              <a:srgbClr val="8B0000"/>
            </a:solidFill>
            <a:prstDash val="solid"/>
          </a:ln>
        </p:spPr>
        <p:txBody>
          <a:bodyPr/>
          <a:lstStyle/>
          <a:p>
            <a:endParaRPr lang="en-US"/>
          </a:p>
        </p:txBody>
      </p:sp>
      <p:sp>
        <p:nvSpPr>
          <p:cNvPr id="11" name="Shape 7"/>
          <p:cNvSpPr/>
          <p:nvPr/>
        </p:nvSpPr>
        <p:spPr>
          <a:xfrm>
            <a:off x="2697480" y="1097280"/>
            <a:ext cx="1737360" cy="1828800"/>
          </a:xfrm>
          <a:prstGeom prst="rect">
            <a:avLst/>
          </a:prstGeom>
          <a:solidFill>
            <a:srgbClr val="A00000"/>
          </a:solidFill>
          <a:ln w="12700">
            <a:solidFill>
              <a:srgbClr val="A00000"/>
            </a:solidFill>
            <a:prstDash val="solid"/>
          </a:ln>
          <a:effectLst>
            <a:outerShdw blurRad="101600" dist="38100" dir="8100000" algn="bl" rotWithShape="0">
              <a:srgbClr val="000000">
                <a:alpha val="18000"/>
              </a:srgbClr>
            </a:outerShdw>
          </a:effectLst>
        </p:spPr>
        <p:txBody>
          <a:bodyPr/>
          <a:lstStyle/>
          <a:p>
            <a:endParaRPr lang="en-US"/>
          </a:p>
        </p:txBody>
      </p:sp>
      <p:pic>
        <p:nvPicPr>
          <p:cNvPr id="12" name="Image 2" descr="preencoded.png"/>
          <p:cNvPicPr>
            <a:picLocks noChangeAspect="1"/>
          </p:cNvPicPr>
          <p:nvPr/>
        </p:nvPicPr>
        <p:blipFill>
          <a:blip r:embed="rId3"/>
          <a:stretch>
            <a:fillRect/>
          </a:stretch>
        </p:blipFill>
        <p:spPr>
          <a:xfrm>
            <a:off x="3314700" y="1298448"/>
            <a:ext cx="502920" cy="502920"/>
          </a:xfrm>
          <a:prstGeom prst="rect">
            <a:avLst/>
          </a:prstGeom>
        </p:spPr>
      </p:pic>
      <p:sp>
        <p:nvSpPr>
          <p:cNvPr id="13" name="Text 8"/>
          <p:cNvSpPr/>
          <p:nvPr/>
        </p:nvSpPr>
        <p:spPr>
          <a:xfrm>
            <a:off x="2697480" y="1901952"/>
            <a:ext cx="17373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API Layer</a:t>
            </a:r>
            <a:endParaRPr lang="en-US" sz="1200" dirty="0"/>
          </a:p>
        </p:txBody>
      </p:sp>
      <p:sp>
        <p:nvSpPr>
          <p:cNvPr id="14" name="Text 9"/>
          <p:cNvSpPr/>
          <p:nvPr/>
        </p:nvSpPr>
        <p:spPr>
          <a:xfrm>
            <a:off x="2697480" y="2212848"/>
            <a:ext cx="1737360" cy="502920"/>
          </a:xfrm>
          <a:prstGeom prst="rect">
            <a:avLst/>
          </a:prstGeom>
          <a:noFill/>
          <a:ln/>
        </p:spPr>
        <p:txBody>
          <a:bodyPr wrap="square" lIns="0" tIns="0" rIns="0" bIns="0" rtlCol="0" anchor="ctr"/>
          <a:lstStyle/>
          <a:p>
            <a:pPr marL="0" indent="0" algn="ctr">
              <a:buNone/>
            </a:pPr>
            <a:r>
              <a:rPr lang="en-US" sz="950" dirty="0">
                <a:solidFill>
                  <a:srgbClr val="E8A0A0"/>
                </a:solidFill>
                <a:latin typeface="Calibri" pitchFamily="34" charset="0"/>
                <a:ea typeface="Calibri" pitchFamily="34" charset="-122"/>
                <a:cs typeface="Calibri" pitchFamily="34" charset="-120"/>
              </a:rPr>
              <a:t>FastAPI</a:t>
            </a:r>
            <a:endParaRPr lang="en-US" sz="950" dirty="0"/>
          </a:p>
          <a:p>
            <a:pPr marL="0" indent="0" algn="ctr">
              <a:buNone/>
            </a:pPr>
            <a:r>
              <a:rPr lang="en-US" sz="950" dirty="0">
                <a:solidFill>
                  <a:srgbClr val="E8A0A0"/>
                </a:solidFill>
                <a:latin typeface="Calibri" pitchFamily="34" charset="0"/>
                <a:ea typeface="Calibri" pitchFamily="34" charset="-122"/>
                <a:cs typeface="Calibri" pitchFamily="34" charset="-120"/>
              </a:rPr>
              <a:t>Backend</a:t>
            </a:r>
            <a:endParaRPr lang="en-US" sz="950" dirty="0"/>
          </a:p>
        </p:txBody>
      </p:sp>
      <p:sp>
        <p:nvSpPr>
          <p:cNvPr id="15" name="Shape 10"/>
          <p:cNvSpPr/>
          <p:nvPr/>
        </p:nvSpPr>
        <p:spPr>
          <a:xfrm>
            <a:off x="4462272" y="1984248"/>
            <a:ext cx="219456" cy="54864"/>
          </a:xfrm>
          <a:prstGeom prst="rect">
            <a:avLst/>
          </a:prstGeom>
          <a:solidFill>
            <a:srgbClr val="8B0000"/>
          </a:solidFill>
          <a:ln w="12700">
            <a:solidFill>
              <a:srgbClr val="8B0000"/>
            </a:solidFill>
            <a:prstDash val="solid"/>
          </a:ln>
        </p:spPr>
        <p:txBody>
          <a:bodyPr/>
          <a:lstStyle/>
          <a:p>
            <a:endParaRPr lang="en-US"/>
          </a:p>
        </p:txBody>
      </p:sp>
      <p:sp>
        <p:nvSpPr>
          <p:cNvPr id="16" name="Shape 11"/>
          <p:cNvSpPr/>
          <p:nvPr/>
        </p:nvSpPr>
        <p:spPr>
          <a:xfrm>
            <a:off x="4654296" y="1911096"/>
            <a:ext cx="91440" cy="201168"/>
          </a:xfrm>
          <a:prstGeom prst="rect">
            <a:avLst/>
          </a:prstGeom>
          <a:solidFill>
            <a:srgbClr val="8B0000"/>
          </a:solidFill>
          <a:ln w="12700">
            <a:solidFill>
              <a:srgbClr val="8B0000"/>
            </a:solidFill>
            <a:prstDash val="solid"/>
          </a:ln>
        </p:spPr>
        <p:txBody>
          <a:bodyPr/>
          <a:lstStyle/>
          <a:p>
            <a:endParaRPr lang="en-US"/>
          </a:p>
        </p:txBody>
      </p:sp>
      <p:sp>
        <p:nvSpPr>
          <p:cNvPr id="17" name="Shape 12"/>
          <p:cNvSpPr/>
          <p:nvPr/>
        </p:nvSpPr>
        <p:spPr>
          <a:xfrm>
            <a:off x="4709160" y="1097280"/>
            <a:ext cx="1737360" cy="1828800"/>
          </a:xfrm>
          <a:prstGeom prst="rect">
            <a:avLst/>
          </a:prstGeom>
          <a:solidFill>
            <a:srgbClr val="8B0000"/>
          </a:solidFill>
          <a:ln w="12700">
            <a:solidFill>
              <a:srgbClr val="8B0000"/>
            </a:solidFill>
            <a:prstDash val="solid"/>
          </a:ln>
          <a:effectLst>
            <a:outerShdw blurRad="101600" dist="38100" dir="8100000" algn="bl" rotWithShape="0">
              <a:srgbClr val="000000">
                <a:alpha val="18000"/>
              </a:srgbClr>
            </a:outerShdw>
          </a:effectLst>
        </p:spPr>
        <p:txBody>
          <a:bodyPr/>
          <a:lstStyle/>
          <a:p>
            <a:endParaRPr lang="en-US"/>
          </a:p>
        </p:txBody>
      </p:sp>
      <p:pic>
        <p:nvPicPr>
          <p:cNvPr id="18" name="Image 3" descr="preencoded.png"/>
          <p:cNvPicPr>
            <a:picLocks noChangeAspect="1"/>
          </p:cNvPicPr>
          <p:nvPr/>
        </p:nvPicPr>
        <p:blipFill>
          <a:blip r:embed="rId5"/>
          <a:stretch>
            <a:fillRect/>
          </a:stretch>
        </p:blipFill>
        <p:spPr>
          <a:xfrm>
            <a:off x="5326380" y="1298448"/>
            <a:ext cx="502920" cy="502920"/>
          </a:xfrm>
          <a:prstGeom prst="rect">
            <a:avLst/>
          </a:prstGeom>
        </p:spPr>
      </p:pic>
      <p:sp>
        <p:nvSpPr>
          <p:cNvPr id="19" name="Text 13"/>
          <p:cNvSpPr/>
          <p:nvPr/>
        </p:nvSpPr>
        <p:spPr>
          <a:xfrm>
            <a:off x="4709160" y="1901952"/>
            <a:ext cx="17373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ML Model</a:t>
            </a:r>
            <a:endParaRPr lang="en-US" sz="1200" dirty="0"/>
          </a:p>
        </p:txBody>
      </p:sp>
      <p:sp>
        <p:nvSpPr>
          <p:cNvPr id="20" name="Text 14"/>
          <p:cNvSpPr/>
          <p:nvPr/>
        </p:nvSpPr>
        <p:spPr>
          <a:xfrm>
            <a:off x="4709160" y="2212848"/>
            <a:ext cx="1737360" cy="502920"/>
          </a:xfrm>
          <a:prstGeom prst="rect">
            <a:avLst/>
          </a:prstGeom>
          <a:noFill/>
          <a:ln/>
        </p:spPr>
        <p:txBody>
          <a:bodyPr wrap="square" lIns="0" tIns="0" rIns="0" bIns="0" rtlCol="0" anchor="ctr"/>
          <a:lstStyle/>
          <a:p>
            <a:pPr marL="0" indent="0" algn="ctr">
              <a:buNone/>
            </a:pPr>
            <a:r>
              <a:rPr lang="en-US" sz="950">
                <a:solidFill>
                  <a:srgbClr val="E8A0A0"/>
                </a:solidFill>
                <a:latin typeface="Calibri" pitchFamily="34" charset="0"/>
                <a:ea typeface="Calibri" pitchFamily="34" charset="-122"/>
                <a:cs typeface="Calibri" pitchFamily="34" charset="-120"/>
              </a:rPr>
              <a:t>Best Model </a:t>
            </a:r>
            <a:r>
              <a:rPr lang="en-US" sz="950" dirty="0">
                <a:solidFill>
                  <a:srgbClr val="E8A0A0"/>
                </a:solidFill>
                <a:latin typeface="Calibri" pitchFamily="34" charset="0"/>
                <a:ea typeface="Calibri" pitchFamily="34" charset="-122"/>
                <a:cs typeface="Calibri" pitchFamily="34" charset="-120"/>
              </a:rPr>
              <a:t>+</a:t>
            </a:r>
            <a:endParaRPr lang="en-US" sz="950" dirty="0"/>
          </a:p>
          <a:p>
            <a:pPr marL="0" indent="0" algn="ctr">
              <a:buNone/>
            </a:pPr>
            <a:r>
              <a:rPr lang="en-US" sz="950" dirty="0">
                <a:solidFill>
                  <a:srgbClr val="E8A0A0"/>
                </a:solidFill>
                <a:latin typeface="Calibri" pitchFamily="34" charset="0"/>
                <a:ea typeface="Calibri" pitchFamily="34" charset="-122"/>
                <a:cs typeface="Calibri" pitchFamily="34" charset="-120"/>
              </a:rPr>
              <a:t>SHAP</a:t>
            </a:r>
            <a:endParaRPr lang="en-US" sz="950" dirty="0"/>
          </a:p>
        </p:txBody>
      </p:sp>
      <p:sp>
        <p:nvSpPr>
          <p:cNvPr id="21" name="Shape 15"/>
          <p:cNvSpPr/>
          <p:nvPr/>
        </p:nvSpPr>
        <p:spPr>
          <a:xfrm>
            <a:off x="6473952" y="1984248"/>
            <a:ext cx="219456" cy="54864"/>
          </a:xfrm>
          <a:prstGeom prst="rect">
            <a:avLst/>
          </a:prstGeom>
          <a:solidFill>
            <a:srgbClr val="8B0000"/>
          </a:solidFill>
          <a:ln w="12700">
            <a:solidFill>
              <a:srgbClr val="8B0000"/>
            </a:solidFill>
            <a:prstDash val="solid"/>
          </a:ln>
        </p:spPr>
        <p:txBody>
          <a:bodyPr/>
          <a:lstStyle/>
          <a:p>
            <a:endParaRPr lang="en-US"/>
          </a:p>
        </p:txBody>
      </p:sp>
      <p:sp>
        <p:nvSpPr>
          <p:cNvPr id="22" name="Shape 16"/>
          <p:cNvSpPr/>
          <p:nvPr/>
        </p:nvSpPr>
        <p:spPr>
          <a:xfrm>
            <a:off x="6665976" y="1911096"/>
            <a:ext cx="91440" cy="201168"/>
          </a:xfrm>
          <a:prstGeom prst="rect">
            <a:avLst/>
          </a:prstGeom>
          <a:solidFill>
            <a:srgbClr val="8B0000"/>
          </a:solidFill>
          <a:ln w="12700">
            <a:solidFill>
              <a:srgbClr val="8B0000"/>
            </a:solidFill>
            <a:prstDash val="solid"/>
          </a:ln>
        </p:spPr>
        <p:txBody>
          <a:bodyPr/>
          <a:lstStyle/>
          <a:p>
            <a:endParaRPr lang="en-US"/>
          </a:p>
        </p:txBody>
      </p:sp>
      <p:sp>
        <p:nvSpPr>
          <p:cNvPr id="23" name="Shape 17"/>
          <p:cNvSpPr/>
          <p:nvPr/>
        </p:nvSpPr>
        <p:spPr>
          <a:xfrm>
            <a:off x="6720840" y="1097280"/>
            <a:ext cx="1737360" cy="1828800"/>
          </a:xfrm>
          <a:prstGeom prst="rect">
            <a:avLst/>
          </a:prstGeom>
          <a:solidFill>
            <a:srgbClr val="A00000"/>
          </a:solidFill>
          <a:ln w="12700">
            <a:solidFill>
              <a:srgbClr val="A00000"/>
            </a:solidFill>
            <a:prstDash val="solid"/>
          </a:ln>
          <a:effectLst>
            <a:outerShdw blurRad="101600" dist="38100" dir="8100000" algn="bl" rotWithShape="0">
              <a:srgbClr val="000000">
                <a:alpha val="18000"/>
              </a:srgbClr>
            </a:outerShdw>
          </a:effectLst>
        </p:spPr>
        <p:txBody>
          <a:bodyPr/>
          <a:lstStyle/>
          <a:p>
            <a:endParaRPr lang="en-US"/>
          </a:p>
        </p:txBody>
      </p:sp>
      <p:pic>
        <p:nvPicPr>
          <p:cNvPr id="24" name="Image 4" descr="preencoded.png"/>
          <p:cNvPicPr>
            <a:picLocks noChangeAspect="1"/>
          </p:cNvPicPr>
          <p:nvPr/>
        </p:nvPicPr>
        <p:blipFill>
          <a:blip r:embed="rId6"/>
          <a:stretch>
            <a:fillRect/>
          </a:stretch>
        </p:blipFill>
        <p:spPr>
          <a:xfrm>
            <a:off x="7338060" y="1298448"/>
            <a:ext cx="502920" cy="502920"/>
          </a:xfrm>
          <a:prstGeom prst="rect">
            <a:avLst/>
          </a:prstGeom>
        </p:spPr>
      </p:pic>
      <p:sp>
        <p:nvSpPr>
          <p:cNvPr id="25" name="Text 18"/>
          <p:cNvSpPr/>
          <p:nvPr/>
        </p:nvSpPr>
        <p:spPr>
          <a:xfrm>
            <a:off x="6720840" y="1901952"/>
            <a:ext cx="17373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Azure</a:t>
            </a:r>
            <a:endParaRPr lang="en-US" sz="1200" dirty="0"/>
          </a:p>
        </p:txBody>
      </p:sp>
      <p:sp>
        <p:nvSpPr>
          <p:cNvPr id="26" name="Text 19"/>
          <p:cNvSpPr/>
          <p:nvPr/>
        </p:nvSpPr>
        <p:spPr>
          <a:xfrm>
            <a:off x="6720840" y="2212848"/>
            <a:ext cx="1737360" cy="502920"/>
          </a:xfrm>
          <a:prstGeom prst="rect">
            <a:avLst/>
          </a:prstGeom>
          <a:noFill/>
          <a:ln/>
        </p:spPr>
        <p:txBody>
          <a:bodyPr wrap="square" lIns="0" tIns="0" rIns="0" bIns="0" rtlCol="0" anchor="ctr"/>
          <a:lstStyle/>
          <a:p>
            <a:pPr marL="0" indent="0" algn="ctr">
              <a:buNone/>
            </a:pPr>
            <a:r>
              <a:rPr lang="en-US" sz="950" dirty="0">
                <a:solidFill>
                  <a:srgbClr val="E8A0A0"/>
                </a:solidFill>
                <a:latin typeface="Calibri" pitchFamily="34" charset="0"/>
                <a:ea typeface="Calibri" pitchFamily="34" charset="-122"/>
                <a:cs typeface="Calibri" pitchFamily="34" charset="-120"/>
              </a:rPr>
              <a:t>App Service</a:t>
            </a:r>
            <a:endParaRPr lang="en-US" sz="950" dirty="0"/>
          </a:p>
          <a:p>
            <a:pPr marL="0" indent="0" algn="ctr">
              <a:buNone/>
            </a:pPr>
            <a:r>
              <a:rPr lang="en-US" sz="950" dirty="0">
                <a:solidFill>
                  <a:srgbClr val="E8A0A0"/>
                </a:solidFill>
                <a:latin typeface="Calibri" pitchFamily="34" charset="0"/>
                <a:ea typeface="Calibri" pitchFamily="34" charset="-122"/>
                <a:cs typeface="Calibri" pitchFamily="34" charset="-120"/>
              </a:rPr>
              <a:t>Deployment</a:t>
            </a:r>
            <a:endParaRPr lang="en-US" sz="950" dirty="0"/>
          </a:p>
        </p:txBody>
      </p:sp>
      <p:sp>
        <p:nvSpPr>
          <p:cNvPr id="27" name="Text 20"/>
          <p:cNvSpPr/>
          <p:nvPr/>
        </p:nvSpPr>
        <p:spPr>
          <a:xfrm>
            <a:off x="347472" y="3127248"/>
            <a:ext cx="8412480" cy="320040"/>
          </a:xfrm>
          <a:prstGeom prst="rect">
            <a:avLst/>
          </a:prstGeom>
          <a:noFill/>
          <a:ln/>
        </p:spPr>
        <p:txBody>
          <a:bodyPr wrap="square" lIns="0" tIns="0" rIns="0" bIns="0" rtlCol="0" anchor="ctr"/>
          <a:lstStyle/>
          <a:p>
            <a:pPr marL="0" indent="0">
              <a:buNone/>
            </a:pPr>
            <a:r>
              <a:rPr lang="en-US" sz="1200" b="1" dirty="0">
                <a:solidFill>
                  <a:srgbClr val="8B0000"/>
                </a:solidFill>
                <a:latin typeface="Calibri" pitchFamily="34" charset="0"/>
                <a:ea typeface="Calibri" pitchFamily="34" charset="-122"/>
                <a:cs typeface="Calibri" pitchFamily="34" charset="-120"/>
              </a:rPr>
              <a:t>Tools &amp; Technologies</a:t>
            </a:r>
            <a:endParaRPr lang="en-US" sz="1200" dirty="0"/>
          </a:p>
        </p:txBody>
      </p:sp>
      <p:sp>
        <p:nvSpPr>
          <p:cNvPr id="28" name="Shape 21"/>
          <p:cNvSpPr/>
          <p:nvPr/>
        </p:nvSpPr>
        <p:spPr>
          <a:xfrm>
            <a:off x="347472" y="3547872"/>
            <a:ext cx="4160520" cy="320040"/>
          </a:xfrm>
          <a:prstGeom prst="rect">
            <a:avLst/>
          </a:prstGeom>
          <a:solidFill>
            <a:srgbClr val="F5E6E6"/>
          </a:solidFill>
          <a:ln w="12700">
            <a:solidFill>
              <a:srgbClr val="D4A0A0"/>
            </a:solidFill>
            <a:prstDash val="solid"/>
          </a:ln>
        </p:spPr>
        <p:txBody>
          <a:bodyPr/>
          <a:lstStyle/>
          <a:p>
            <a:endParaRPr lang="en-US"/>
          </a:p>
        </p:txBody>
      </p:sp>
      <p:sp>
        <p:nvSpPr>
          <p:cNvPr id="29" name="Shape 22"/>
          <p:cNvSpPr/>
          <p:nvPr/>
        </p:nvSpPr>
        <p:spPr>
          <a:xfrm>
            <a:off x="347472" y="3547872"/>
            <a:ext cx="64008" cy="320040"/>
          </a:xfrm>
          <a:prstGeom prst="rect">
            <a:avLst/>
          </a:prstGeom>
          <a:solidFill>
            <a:srgbClr val="8B0000"/>
          </a:solidFill>
          <a:ln w="12700">
            <a:solidFill>
              <a:srgbClr val="8B0000"/>
            </a:solidFill>
            <a:prstDash val="solid"/>
          </a:ln>
        </p:spPr>
        <p:txBody>
          <a:bodyPr/>
          <a:lstStyle/>
          <a:p>
            <a:endParaRPr lang="en-US"/>
          </a:p>
        </p:txBody>
      </p:sp>
      <p:sp>
        <p:nvSpPr>
          <p:cNvPr id="30" name="Text 23"/>
          <p:cNvSpPr/>
          <p:nvPr/>
        </p:nvSpPr>
        <p:spPr>
          <a:xfrm>
            <a:off x="512064" y="3593592"/>
            <a:ext cx="3840480" cy="256032"/>
          </a:xfrm>
          <a:prstGeom prst="rect">
            <a:avLst/>
          </a:prstGeom>
          <a:noFill/>
          <a:ln/>
        </p:spPr>
        <p:txBody>
          <a:bodyPr wrap="square" lIns="0" tIns="0" rIns="0" bIns="0" rtlCol="0" anchor="ctr"/>
          <a:lstStyle/>
          <a:p>
            <a:pPr marL="0" indent="0">
              <a:buNone/>
            </a:pPr>
            <a:r>
              <a:rPr lang="en-US" sz="1000" dirty="0">
                <a:solidFill>
                  <a:srgbClr val="2C2C2C"/>
                </a:solidFill>
                <a:latin typeface="Calibri" pitchFamily="34" charset="0"/>
                <a:ea typeface="Calibri" pitchFamily="34" charset="-122"/>
                <a:cs typeface="Calibri" pitchFamily="34" charset="-120"/>
              </a:rPr>
              <a:t>Python · scikit-learn · XGBoost · SHAP</a:t>
            </a:r>
            <a:endParaRPr lang="en-US" sz="1000" dirty="0"/>
          </a:p>
        </p:txBody>
      </p:sp>
      <p:sp>
        <p:nvSpPr>
          <p:cNvPr id="31" name="Shape 24"/>
          <p:cNvSpPr/>
          <p:nvPr/>
        </p:nvSpPr>
        <p:spPr>
          <a:xfrm>
            <a:off x="4782312" y="3547872"/>
            <a:ext cx="4160520" cy="320040"/>
          </a:xfrm>
          <a:prstGeom prst="rect">
            <a:avLst/>
          </a:prstGeom>
          <a:solidFill>
            <a:srgbClr val="F5E6E6"/>
          </a:solidFill>
          <a:ln w="12700">
            <a:solidFill>
              <a:srgbClr val="D4A0A0"/>
            </a:solidFill>
            <a:prstDash val="solid"/>
          </a:ln>
        </p:spPr>
        <p:txBody>
          <a:bodyPr/>
          <a:lstStyle/>
          <a:p>
            <a:endParaRPr lang="en-US"/>
          </a:p>
        </p:txBody>
      </p:sp>
      <p:sp>
        <p:nvSpPr>
          <p:cNvPr id="32" name="Shape 25"/>
          <p:cNvSpPr/>
          <p:nvPr/>
        </p:nvSpPr>
        <p:spPr>
          <a:xfrm>
            <a:off x="4782312" y="3547872"/>
            <a:ext cx="64008" cy="320040"/>
          </a:xfrm>
          <a:prstGeom prst="rect">
            <a:avLst/>
          </a:prstGeom>
          <a:solidFill>
            <a:srgbClr val="8B0000"/>
          </a:solidFill>
          <a:ln w="12700">
            <a:solidFill>
              <a:srgbClr val="8B0000"/>
            </a:solidFill>
            <a:prstDash val="solid"/>
          </a:ln>
        </p:spPr>
        <p:txBody>
          <a:bodyPr/>
          <a:lstStyle/>
          <a:p>
            <a:endParaRPr lang="en-US"/>
          </a:p>
        </p:txBody>
      </p:sp>
      <p:sp>
        <p:nvSpPr>
          <p:cNvPr id="33" name="Text 26"/>
          <p:cNvSpPr/>
          <p:nvPr/>
        </p:nvSpPr>
        <p:spPr>
          <a:xfrm>
            <a:off x="4946904" y="3593592"/>
            <a:ext cx="3840480" cy="256032"/>
          </a:xfrm>
          <a:prstGeom prst="rect">
            <a:avLst/>
          </a:prstGeom>
          <a:noFill/>
          <a:ln/>
        </p:spPr>
        <p:txBody>
          <a:bodyPr wrap="square" lIns="0" tIns="0" rIns="0" bIns="0" rtlCol="0" anchor="ctr"/>
          <a:lstStyle/>
          <a:p>
            <a:pPr marL="0" indent="0">
              <a:buNone/>
            </a:pPr>
            <a:r>
              <a:rPr lang="en-US" sz="1000" dirty="0">
                <a:solidFill>
                  <a:srgbClr val="2C2C2C"/>
                </a:solidFill>
                <a:latin typeface="Calibri" pitchFamily="34" charset="0"/>
                <a:ea typeface="Calibri" pitchFamily="34" charset="-122"/>
                <a:cs typeface="Calibri" pitchFamily="34" charset="-120"/>
              </a:rPr>
              <a:t>FastAPI · Streamlit · Plotly</a:t>
            </a:r>
            <a:endParaRPr lang="en-US" sz="1000" dirty="0"/>
          </a:p>
        </p:txBody>
      </p:sp>
      <p:sp>
        <p:nvSpPr>
          <p:cNvPr id="34" name="Shape 27"/>
          <p:cNvSpPr/>
          <p:nvPr/>
        </p:nvSpPr>
        <p:spPr>
          <a:xfrm>
            <a:off x="347472" y="3931920"/>
            <a:ext cx="4160520" cy="320040"/>
          </a:xfrm>
          <a:prstGeom prst="rect">
            <a:avLst/>
          </a:prstGeom>
          <a:solidFill>
            <a:srgbClr val="F5E6E6"/>
          </a:solidFill>
          <a:ln w="12700">
            <a:solidFill>
              <a:srgbClr val="D4A0A0"/>
            </a:solidFill>
            <a:prstDash val="solid"/>
          </a:ln>
        </p:spPr>
        <p:txBody>
          <a:bodyPr/>
          <a:lstStyle/>
          <a:p>
            <a:endParaRPr lang="en-US"/>
          </a:p>
        </p:txBody>
      </p:sp>
      <p:sp>
        <p:nvSpPr>
          <p:cNvPr id="35" name="Shape 28"/>
          <p:cNvSpPr/>
          <p:nvPr/>
        </p:nvSpPr>
        <p:spPr>
          <a:xfrm>
            <a:off x="347472" y="3931920"/>
            <a:ext cx="64008" cy="320040"/>
          </a:xfrm>
          <a:prstGeom prst="rect">
            <a:avLst/>
          </a:prstGeom>
          <a:solidFill>
            <a:srgbClr val="8B0000"/>
          </a:solidFill>
          <a:ln w="12700">
            <a:solidFill>
              <a:srgbClr val="8B0000"/>
            </a:solidFill>
            <a:prstDash val="solid"/>
          </a:ln>
        </p:spPr>
        <p:txBody>
          <a:bodyPr/>
          <a:lstStyle/>
          <a:p>
            <a:endParaRPr lang="en-US"/>
          </a:p>
        </p:txBody>
      </p:sp>
      <p:sp>
        <p:nvSpPr>
          <p:cNvPr id="36" name="Text 29"/>
          <p:cNvSpPr/>
          <p:nvPr/>
        </p:nvSpPr>
        <p:spPr>
          <a:xfrm>
            <a:off x="512064" y="3977640"/>
            <a:ext cx="3840480" cy="256032"/>
          </a:xfrm>
          <a:prstGeom prst="rect">
            <a:avLst/>
          </a:prstGeom>
          <a:noFill/>
          <a:ln/>
        </p:spPr>
        <p:txBody>
          <a:bodyPr wrap="square" lIns="0" tIns="0" rIns="0" bIns="0" rtlCol="0" anchor="ctr"/>
          <a:lstStyle/>
          <a:p>
            <a:pPr marL="0" indent="0">
              <a:buNone/>
            </a:pPr>
            <a:r>
              <a:rPr lang="en-US" sz="1000" dirty="0">
                <a:solidFill>
                  <a:srgbClr val="2C2C2C"/>
                </a:solidFill>
                <a:latin typeface="Calibri" pitchFamily="34" charset="0"/>
                <a:ea typeface="Calibri" pitchFamily="34" charset="-122"/>
                <a:cs typeface="Calibri" pitchFamily="34" charset="-120"/>
              </a:rPr>
              <a:t>Azure App Service · Docker (Container Virtualization)</a:t>
            </a:r>
            <a:endParaRPr lang="en-US" sz="1000" dirty="0"/>
          </a:p>
        </p:txBody>
      </p:sp>
      <p:sp>
        <p:nvSpPr>
          <p:cNvPr id="37" name="Shape 30"/>
          <p:cNvSpPr/>
          <p:nvPr/>
        </p:nvSpPr>
        <p:spPr>
          <a:xfrm>
            <a:off x="4782312" y="3931920"/>
            <a:ext cx="4160520" cy="320040"/>
          </a:xfrm>
          <a:prstGeom prst="rect">
            <a:avLst/>
          </a:prstGeom>
          <a:solidFill>
            <a:srgbClr val="F5E6E6"/>
          </a:solidFill>
          <a:ln w="12700">
            <a:solidFill>
              <a:srgbClr val="D4A0A0"/>
            </a:solidFill>
            <a:prstDash val="solid"/>
          </a:ln>
        </p:spPr>
        <p:txBody>
          <a:bodyPr/>
          <a:lstStyle/>
          <a:p>
            <a:endParaRPr lang="en-US"/>
          </a:p>
        </p:txBody>
      </p:sp>
      <p:sp>
        <p:nvSpPr>
          <p:cNvPr id="38" name="Shape 31"/>
          <p:cNvSpPr/>
          <p:nvPr/>
        </p:nvSpPr>
        <p:spPr>
          <a:xfrm>
            <a:off x="4782312" y="3931920"/>
            <a:ext cx="64008" cy="320040"/>
          </a:xfrm>
          <a:prstGeom prst="rect">
            <a:avLst/>
          </a:prstGeom>
          <a:solidFill>
            <a:srgbClr val="8B0000"/>
          </a:solidFill>
          <a:ln w="12700">
            <a:solidFill>
              <a:srgbClr val="8B0000"/>
            </a:solidFill>
            <a:prstDash val="solid"/>
          </a:ln>
        </p:spPr>
        <p:txBody>
          <a:bodyPr/>
          <a:lstStyle/>
          <a:p>
            <a:endParaRPr lang="en-US"/>
          </a:p>
        </p:txBody>
      </p:sp>
      <p:sp>
        <p:nvSpPr>
          <p:cNvPr id="39" name="Text 32"/>
          <p:cNvSpPr/>
          <p:nvPr/>
        </p:nvSpPr>
        <p:spPr>
          <a:xfrm>
            <a:off x="4946904" y="3977640"/>
            <a:ext cx="3840480" cy="256032"/>
          </a:xfrm>
          <a:prstGeom prst="rect">
            <a:avLst/>
          </a:prstGeom>
          <a:noFill/>
          <a:ln/>
        </p:spPr>
        <p:txBody>
          <a:bodyPr wrap="square" lIns="0" tIns="0" rIns="0" bIns="0" rtlCol="0" anchor="ctr"/>
          <a:lstStyle/>
          <a:p>
            <a:pPr marL="0" indent="0">
              <a:buNone/>
            </a:pPr>
            <a:r>
              <a:rPr lang="en-US" sz="1000" dirty="0">
                <a:solidFill>
                  <a:srgbClr val="2C2C2C"/>
                </a:solidFill>
                <a:latin typeface="Calibri" pitchFamily="34" charset="0"/>
                <a:ea typeface="Calibri" pitchFamily="34" charset="-122"/>
                <a:cs typeface="Calibri" pitchFamily="34" charset="-120"/>
              </a:rPr>
              <a:t>Locust (Load Testing)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347472" y="256032"/>
            <a:ext cx="384048" cy="384048"/>
          </a:xfrm>
          <a:prstGeom prst="rect">
            <a:avLst/>
          </a:prstGeom>
        </p:spPr>
      </p:pic>
      <p:pic>
        <p:nvPicPr>
          <p:cNvPr id="4" name="Image 1" descr="preencoded.png"/>
          <p:cNvPicPr>
            <a:picLocks noChangeAspect="1"/>
          </p:cNvPicPr>
          <p:nvPr/>
        </p:nvPicPr>
        <p:blipFill>
          <a:blip r:embed="rId4"/>
          <a:stretch>
            <a:fillRect/>
          </a:stretch>
        </p:blipFill>
        <p:spPr>
          <a:xfrm>
            <a:off x="347472" y="256032"/>
            <a:ext cx="384048" cy="384048"/>
          </a:xfrm>
          <a:prstGeom prst="rect">
            <a:avLst/>
          </a:prstGeom>
        </p:spPr>
      </p:pic>
      <p:sp>
        <p:nvSpPr>
          <p:cNvPr id="5" name="Text 1"/>
          <p:cNvSpPr/>
          <p:nvPr/>
        </p:nvSpPr>
        <p:spPr>
          <a:xfrm>
            <a:off x="822960" y="256032"/>
            <a:ext cx="7315200" cy="411480"/>
          </a:xfrm>
          <a:prstGeom prst="rect">
            <a:avLst/>
          </a:prstGeom>
          <a:noFill/>
          <a:ln/>
        </p:spPr>
        <p:txBody>
          <a:bodyPr wrap="square" lIns="0" tIns="0" rIns="0" bIns="0" rtlCol="0" anchor="ctr"/>
          <a:lstStyle/>
          <a:p>
            <a:pPr marL="0" indent="0">
              <a:buNone/>
            </a:pPr>
            <a:r>
              <a:rPr lang="en-US" sz="2800" b="1" dirty="0">
                <a:solidFill>
                  <a:srgbClr val="8B0000"/>
                </a:solidFill>
                <a:latin typeface="Georgia" pitchFamily="34" charset="0"/>
                <a:ea typeface="Georgia" pitchFamily="34" charset="-122"/>
                <a:cs typeface="Georgia" pitchFamily="34" charset="-120"/>
              </a:rPr>
              <a:t>Project Timeline</a:t>
            </a:r>
            <a:endParaRPr lang="en-US" sz="2800" dirty="0"/>
          </a:p>
        </p:txBody>
      </p:sp>
      <p:sp>
        <p:nvSpPr>
          <p:cNvPr id="6" name="Shape 2"/>
          <p:cNvSpPr/>
          <p:nvPr/>
        </p:nvSpPr>
        <p:spPr>
          <a:xfrm>
            <a:off x="347472" y="914400"/>
            <a:ext cx="1417320" cy="566928"/>
          </a:xfrm>
          <a:prstGeom prst="rect">
            <a:avLst/>
          </a:prstGeom>
          <a:solidFill>
            <a:srgbClr val="8B0000"/>
          </a:solidFill>
          <a:ln w="12700">
            <a:solidFill>
              <a:srgbClr val="8B0000"/>
            </a:solidFill>
            <a:prstDash val="solid"/>
          </a:ln>
        </p:spPr>
        <p:txBody>
          <a:bodyPr/>
          <a:lstStyle/>
          <a:p>
            <a:endParaRPr lang="en-US"/>
          </a:p>
        </p:txBody>
      </p:sp>
      <p:sp>
        <p:nvSpPr>
          <p:cNvPr id="7" name="Text 3"/>
          <p:cNvSpPr/>
          <p:nvPr/>
        </p:nvSpPr>
        <p:spPr>
          <a:xfrm>
            <a:off x="347472" y="1024128"/>
            <a:ext cx="1417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Weeks 1–2</a:t>
            </a:r>
            <a:endParaRPr lang="en-US" sz="1000" dirty="0"/>
          </a:p>
        </p:txBody>
      </p:sp>
      <p:sp>
        <p:nvSpPr>
          <p:cNvPr id="8" name="Shape 4"/>
          <p:cNvSpPr/>
          <p:nvPr/>
        </p:nvSpPr>
        <p:spPr>
          <a:xfrm>
            <a:off x="1892808" y="1115568"/>
            <a:ext cx="164592" cy="164592"/>
          </a:xfrm>
          <a:prstGeom prst="ellipse">
            <a:avLst/>
          </a:prstGeom>
          <a:solidFill>
            <a:srgbClr val="8B0000"/>
          </a:solidFill>
          <a:ln w="12700">
            <a:solidFill>
              <a:srgbClr val="8B0000"/>
            </a:solidFill>
            <a:prstDash val="solid"/>
          </a:ln>
        </p:spPr>
        <p:txBody>
          <a:bodyPr/>
          <a:lstStyle/>
          <a:p>
            <a:endParaRPr lang="en-US"/>
          </a:p>
        </p:txBody>
      </p:sp>
      <p:sp>
        <p:nvSpPr>
          <p:cNvPr id="9" name="Shape 5"/>
          <p:cNvSpPr/>
          <p:nvPr/>
        </p:nvSpPr>
        <p:spPr>
          <a:xfrm>
            <a:off x="2176272" y="914400"/>
            <a:ext cx="6583680" cy="566928"/>
          </a:xfrm>
          <a:prstGeom prst="rect">
            <a:avLst/>
          </a:prstGeom>
          <a:solidFill>
            <a:srgbClr val="FFFFFF"/>
          </a:solidFill>
          <a:ln w="12700">
            <a:solidFill>
              <a:srgbClr val="D4A0A0"/>
            </a:solidFill>
            <a:prstDash val="solid"/>
          </a:ln>
        </p:spPr>
        <p:txBody>
          <a:bodyPr/>
          <a:lstStyle/>
          <a:p>
            <a:endParaRPr lang="en-US"/>
          </a:p>
        </p:txBody>
      </p:sp>
      <p:sp>
        <p:nvSpPr>
          <p:cNvPr id="10" name="Shape 6"/>
          <p:cNvSpPr/>
          <p:nvPr/>
        </p:nvSpPr>
        <p:spPr>
          <a:xfrm>
            <a:off x="2176272" y="914400"/>
            <a:ext cx="64008" cy="566928"/>
          </a:xfrm>
          <a:prstGeom prst="rect">
            <a:avLst/>
          </a:prstGeom>
          <a:solidFill>
            <a:srgbClr val="8B0000"/>
          </a:solidFill>
          <a:ln w="12700">
            <a:solidFill>
              <a:srgbClr val="8B0000"/>
            </a:solidFill>
            <a:prstDash val="solid"/>
          </a:ln>
        </p:spPr>
        <p:txBody>
          <a:bodyPr/>
          <a:lstStyle/>
          <a:p>
            <a:endParaRPr lang="en-US"/>
          </a:p>
        </p:txBody>
      </p:sp>
      <p:sp>
        <p:nvSpPr>
          <p:cNvPr id="11" name="Text 7"/>
          <p:cNvSpPr/>
          <p:nvPr/>
        </p:nvSpPr>
        <p:spPr>
          <a:xfrm>
            <a:off x="2331720" y="950976"/>
            <a:ext cx="6217920" cy="22860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Data Preparation &amp; Model Training</a:t>
            </a:r>
            <a:endParaRPr lang="en-US" sz="1100" dirty="0"/>
          </a:p>
        </p:txBody>
      </p:sp>
      <p:sp>
        <p:nvSpPr>
          <p:cNvPr id="12" name="Text 8"/>
          <p:cNvSpPr/>
          <p:nvPr/>
        </p:nvSpPr>
        <p:spPr>
          <a:xfrm>
            <a:off x="2331720" y="1188720"/>
            <a:ext cx="6217920" cy="25603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Load UCI dataset · clean data · train Logistic Regression, Random Forest, XGBoost · cross-validate</a:t>
            </a:r>
            <a:endParaRPr lang="en-US" sz="950" dirty="0"/>
          </a:p>
        </p:txBody>
      </p:sp>
      <p:sp>
        <p:nvSpPr>
          <p:cNvPr id="13" name="Shape 9"/>
          <p:cNvSpPr/>
          <p:nvPr/>
        </p:nvSpPr>
        <p:spPr>
          <a:xfrm>
            <a:off x="1956816" y="1481328"/>
            <a:ext cx="36576" cy="228600"/>
          </a:xfrm>
          <a:prstGeom prst="rect">
            <a:avLst/>
          </a:prstGeom>
          <a:solidFill>
            <a:srgbClr val="E8A0A0"/>
          </a:solidFill>
          <a:ln w="12700">
            <a:solidFill>
              <a:srgbClr val="E8A0A0"/>
            </a:solidFill>
            <a:prstDash val="solid"/>
          </a:ln>
        </p:spPr>
        <p:txBody>
          <a:bodyPr/>
          <a:lstStyle/>
          <a:p>
            <a:endParaRPr lang="en-US"/>
          </a:p>
        </p:txBody>
      </p:sp>
      <p:sp>
        <p:nvSpPr>
          <p:cNvPr id="14" name="Shape 10"/>
          <p:cNvSpPr/>
          <p:nvPr/>
        </p:nvSpPr>
        <p:spPr>
          <a:xfrm>
            <a:off x="347472" y="1709928"/>
            <a:ext cx="1417320" cy="566928"/>
          </a:xfrm>
          <a:prstGeom prst="rect">
            <a:avLst/>
          </a:prstGeom>
          <a:solidFill>
            <a:srgbClr val="8B0000"/>
          </a:solidFill>
          <a:ln w="12700">
            <a:solidFill>
              <a:srgbClr val="8B0000"/>
            </a:solidFill>
            <a:prstDash val="solid"/>
          </a:ln>
        </p:spPr>
        <p:txBody>
          <a:bodyPr/>
          <a:lstStyle/>
          <a:p>
            <a:endParaRPr lang="en-US"/>
          </a:p>
        </p:txBody>
      </p:sp>
      <p:sp>
        <p:nvSpPr>
          <p:cNvPr id="15" name="Text 11"/>
          <p:cNvSpPr/>
          <p:nvPr/>
        </p:nvSpPr>
        <p:spPr>
          <a:xfrm>
            <a:off x="347472" y="1819656"/>
            <a:ext cx="1417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Week 3</a:t>
            </a:r>
            <a:endParaRPr lang="en-US" sz="1000" dirty="0"/>
          </a:p>
        </p:txBody>
      </p:sp>
      <p:sp>
        <p:nvSpPr>
          <p:cNvPr id="16" name="Shape 12"/>
          <p:cNvSpPr/>
          <p:nvPr/>
        </p:nvSpPr>
        <p:spPr>
          <a:xfrm>
            <a:off x="1892808" y="1911096"/>
            <a:ext cx="164592" cy="164592"/>
          </a:xfrm>
          <a:prstGeom prst="ellipse">
            <a:avLst/>
          </a:prstGeom>
          <a:solidFill>
            <a:srgbClr val="8B0000"/>
          </a:solidFill>
          <a:ln w="12700">
            <a:solidFill>
              <a:srgbClr val="8B0000"/>
            </a:solidFill>
            <a:prstDash val="solid"/>
          </a:ln>
        </p:spPr>
        <p:txBody>
          <a:bodyPr/>
          <a:lstStyle/>
          <a:p>
            <a:endParaRPr lang="en-US"/>
          </a:p>
        </p:txBody>
      </p:sp>
      <p:sp>
        <p:nvSpPr>
          <p:cNvPr id="17" name="Shape 13"/>
          <p:cNvSpPr/>
          <p:nvPr/>
        </p:nvSpPr>
        <p:spPr>
          <a:xfrm>
            <a:off x="2176272" y="1709928"/>
            <a:ext cx="6583680" cy="566928"/>
          </a:xfrm>
          <a:prstGeom prst="rect">
            <a:avLst/>
          </a:prstGeom>
          <a:solidFill>
            <a:srgbClr val="FFFFFF"/>
          </a:solidFill>
          <a:ln w="12700">
            <a:solidFill>
              <a:srgbClr val="D4A0A0"/>
            </a:solidFill>
            <a:prstDash val="solid"/>
          </a:ln>
        </p:spPr>
        <p:txBody>
          <a:bodyPr/>
          <a:lstStyle/>
          <a:p>
            <a:endParaRPr lang="en-US"/>
          </a:p>
        </p:txBody>
      </p:sp>
      <p:sp>
        <p:nvSpPr>
          <p:cNvPr id="18" name="Shape 14"/>
          <p:cNvSpPr/>
          <p:nvPr/>
        </p:nvSpPr>
        <p:spPr>
          <a:xfrm>
            <a:off x="2176272" y="1709928"/>
            <a:ext cx="64008" cy="566928"/>
          </a:xfrm>
          <a:prstGeom prst="rect">
            <a:avLst/>
          </a:prstGeom>
          <a:solidFill>
            <a:srgbClr val="8B0000"/>
          </a:solidFill>
          <a:ln w="12700">
            <a:solidFill>
              <a:srgbClr val="8B0000"/>
            </a:solidFill>
            <a:prstDash val="solid"/>
          </a:ln>
        </p:spPr>
        <p:txBody>
          <a:bodyPr/>
          <a:lstStyle/>
          <a:p>
            <a:endParaRPr lang="en-US"/>
          </a:p>
        </p:txBody>
      </p:sp>
      <p:sp>
        <p:nvSpPr>
          <p:cNvPr id="19" name="Text 15"/>
          <p:cNvSpPr/>
          <p:nvPr/>
        </p:nvSpPr>
        <p:spPr>
          <a:xfrm>
            <a:off x="2331720" y="1746504"/>
            <a:ext cx="6217920" cy="22860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Evaluation &amp; SHAP Analysis</a:t>
            </a:r>
            <a:endParaRPr lang="en-US" sz="1100" dirty="0"/>
          </a:p>
        </p:txBody>
      </p:sp>
      <p:sp>
        <p:nvSpPr>
          <p:cNvPr id="20" name="Text 16"/>
          <p:cNvSpPr/>
          <p:nvPr/>
        </p:nvSpPr>
        <p:spPr>
          <a:xfrm>
            <a:off x="2331720" y="1984248"/>
            <a:ext cx="6217920" cy="25603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Compare AUC-ROC &amp; F1 · select best model · generate SHAP values · validate explainability output</a:t>
            </a:r>
            <a:endParaRPr lang="en-US" sz="950" dirty="0"/>
          </a:p>
        </p:txBody>
      </p:sp>
      <p:sp>
        <p:nvSpPr>
          <p:cNvPr id="21" name="Shape 17"/>
          <p:cNvSpPr/>
          <p:nvPr/>
        </p:nvSpPr>
        <p:spPr>
          <a:xfrm>
            <a:off x="1956816" y="2276856"/>
            <a:ext cx="36576" cy="228600"/>
          </a:xfrm>
          <a:prstGeom prst="rect">
            <a:avLst/>
          </a:prstGeom>
          <a:solidFill>
            <a:srgbClr val="E8A0A0"/>
          </a:solidFill>
          <a:ln w="12700">
            <a:solidFill>
              <a:srgbClr val="E8A0A0"/>
            </a:solidFill>
            <a:prstDash val="solid"/>
          </a:ln>
        </p:spPr>
        <p:txBody>
          <a:bodyPr/>
          <a:lstStyle/>
          <a:p>
            <a:endParaRPr lang="en-US"/>
          </a:p>
        </p:txBody>
      </p:sp>
      <p:sp>
        <p:nvSpPr>
          <p:cNvPr id="22" name="Shape 18"/>
          <p:cNvSpPr/>
          <p:nvPr/>
        </p:nvSpPr>
        <p:spPr>
          <a:xfrm>
            <a:off x="347472" y="2505456"/>
            <a:ext cx="1417320" cy="566928"/>
          </a:xfrm>
          <a:prstGeom prst="rect">
            <a:avLst/>
          </a:prstGeom>
          <a:solidFill>
            <a:srgbClr val="8B0000"/>
          </a:solidFill>
          <a:ln w="12700">
            <a:solidFill>
              <a:srgbClr val="8B0000"/>
            </a:solidFill>
            <a:prstDash val="solid"/>
          </a:ln>
        </p:spPr>
        <p:txBody>
          <a:bodyPr/>
          <a:lstStyle/>
          <a:p>
            <a:endParaRPr lang="en-US"/>
          </a:p>
        </p:txBody>
      </p:sp>
      <p:sp>
        <p:nvSpPr>
          <p:cNvPr id="23" name="Text 19"/>
          <p:cNvSpPr/>
          <p:nvPr/>
        </p:nvSpPr>
        <p:spPr>
          <a:xfrm>
            <a:off x="347472" y="2615184"/>
            <a:ext cx="1417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Week 4</a:t>
            </a:r>
            <a:endParaRPr lang="en-US" sz="1000" dirty="0"/>
          </a:p>
        </p:txBody>
      </p:sp>
      <p:sp>
        <p:nvSpPr>
          <p:cNvPr id="24" name="Shape 20"/>
          <p:cNvSpPr/>
          <p:nvPr/>
        </p:nvSpPr>
        <p:spPr>
          <a:xfrm>
            <a:off x="1892808" y="2706624"/>
            <a:ext cx="164592" cy="164592"/>
          </a:xfrm>
          <a:prstGeom prst="ellipse">
            <a:avLst/>
          </a:prstGeom>
          <a:solidFill>
            <a:srgbClr val="8B0000"/>
          </a:solidFill>
          <a:ln w="12700">
            <a:solidFill>
              <a:srgbClr val="8B0000"/>
            </a:solidFill>
            <a:prstDash val="solid"/>
          </a:ln>
        </p:spPr>
        <p:txBody>
          <a:bodyPr/>
          <a:lstStyle/>
          <a:p>
            <a:endParaRPr lang="en-US"/>
          </a:p>
        </p:txBody>
      </p:sp>
      <p:sp>
        <p:nvSpPr>
          <p:cNvPr id="25" name="Shape 21"/>
          <p:cNvSpPr/>
          <p:nvPr/>
        </p:nvSpPr>
        <p:spPr>
          <a:xfrm>
            <a:off x="2176272" y="2505456"/>
            <a:ext cx="6583680" cy="566928"/>
          </a:xfrm>
          <a:prstGeom prst="rect">
            <a:avLst/>
          </a:prstGeom>
          <a:solidFill>
            <a:srgbClr val="FFFFFF"/>
          </a:solidFill>
          <a:ln w="12700">
            <a:solidFill>
              <a:srgbClr val="D4A0A0"/>
            </a:solidFill>
            <a:prstDash val="solid"/>
          </a:ln>
        </p:spPr>
        <p:txBody>
          <a:bodyPr/>
          <a:lstStyle/>
          <a:p>
            <a:endParaRPr lang="en-US"/>
          </a:p>
        </p:txBody>
      </p:sp>
      <p:sp>
        <p:nvSpPr>
          <p:cNvPr id="26" name="Shape 22"/>
          <p:cNvSpPr/>
          <p:nvPr/>
        </p:nvSpPr>
        <p:spPr>
          <a:xfrm>
            <a:off x="2176272" y="2505456"/>
            <a:ext cx="64008" cy="566928"/>
          </a:xfrm>
          <a:prstGeom prst="rect">
            <a:avLst/>
          </a:prstGeom>
          <a:solidFill>
            <a:srgbClr val="8B0000"/>
          </a:solidFill>
          <a:ln w="12700">
            <a:solidFill>
              <a:srgbClr val="8B0000"/>
            </a:solidFill>
            <a:prstDash val="solid"/>
          </a:ln>
        </p:spPr>
        <p:txBody>
          <a:bodyPr/>
          <a:lstStyle/>
          <a:p>
            <a:endParaRPr lang="en-US"/>
          </a:p>
        </p:txBody>
      </p:sp>
      <p:sp>
        <p:nvSpPr>
          <p:cNvPr id="27" name="Text 23"/>
          <p:cNvSpPr/>
          <p:nvPr/>
        </p:nvSpPr>
        <p:spPr>
          <a:xfrm>
            <a:off x="2331720" y="2542032"/>
            <a:ext cx="6217920" cy="22860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Frontend &amp; Backend Development</a:t>
            </a:r>
            <a:endParaRPr lang="en-US" sz="1100" dirty="0"/>
          </a:p>
        </p:txBody>
      </p:sp>
      <p:sp>
        <p:nvSpPr>
          <p:cNvPr id="28" name="Text 24"/>
          <p:cNvSpPr/>
          <p:nvPr/>
        </p:nvSpPr>
        <p:spPr>
          <a:xfrm>
            <a:off x="2331720" y="2779776"/>
            <a:ext cx="6217920" cy="25603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Build FastAPI /predict endpoint · build Streamlit dashboard · integrate SHAP chart &amp; recommendations</a:t>
            </a:r>
            <a:endParaRPr lang="en-US" sz="950" dirty="0"/>
          </a:p>
        </p:txBody>
      </p:sp>
      <p:sp>
        <p:nvSpPr>
          <p:cNvPr id="29" name="Shape 25"/>
          <p:cNvSpPr/>
          <p:nvPr/>
        </p:nvSpPr>
        <p:spPr>
          <a:xfrm>
            <a:off x="1956816" y="3072384"/>
            <a:ext cx="36576" cy="228600"/>
          </a:xfrm>
          <a:prstGeom prst="rect">
            <a:avLst/>
          </a:prstGeom>
          <a:solidFill>
            <a:srgbClr val="E8A0A0"/>
          </a:solidFill>
          <a:ln w="12700">
            <a:solidFill>
              <a:srgbClr val="E8A0A0"/>
            </a:solidFill>
            <a:prstDash val="solid"/>
          </a:ln>
        </p:spPr>
        <p:txBody>
          <a:bodyPr/>
          <a:lstStyle/>
          <a:p>
            <a:endParaRPr lang="en-US"/>
          </a:p>
        </p:txBody>
      </p:sp>
      <p:sp>
        <p:nvSpPr>
          <p:cNvPr id="30" name="Shape 26"/>
          <p:cNvSpPr/>
          <p:nvPr/>
        </p:nvSpPr>
        <p:spPr>
          <a:xfrm>
            <a:off x="347472" y="3300984"/>
            <a:ext cx="1417320" cy="566928"/>
          </a:xfrm>
          <a:prstGeom prst="rect">
            <a:avLst/>
          </a:prstGeom>
          <a:solidFill>
            <a:srgbClr val="8B0000"/>
          </a:solidFill>
          <a:ln w="12700">
            <a:solidFill>
              <a:srgbClr val="8B0000"/>
            </a:solidFill>
            <a:prstDash val="solid"/>
          </a:ln>
        </p:spPr>
        <p:txBody>
          <a:bodyPr/>
          <a:lstStyle/>
          <a:p>
            <a:endParaRPr lang="en-US"/>
          </a:p>
        </p:txBody>
      </p:sp>
      <p:sp>
        <p:nvSpPr>
          <p:cNvPr id="31" name="Text 27"/>
          <p:cNvSpPr/>
          <p:nvPr/>
        </p:nvSpPr>
        <p:spPr>
          <a:xfrm>
            <a:off x="347472" y="3410712"/>
            <a:ext cx="1417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Week 5</a:t>
            </a:r>
            <a:endParaRPr lang="en-US" sz="1000" dirty="0"/>
          </a:p>
        </p:txBody>
      </p:sp>
      <p:sp>
        <p:nvSpPr>
          <p:cNvPr id="32" name="Shape 28"/>
          <p:cNvSpPr/>
          <p:nvPr/>
        </p:nvSpPr>
        <p:spPr>
          <a:xfrm>
            <a:off x="1892808" y="3502152"/>
            <a:ext cx="164592" cy="164592"/>
          </a:xfrm>
          <a:prstGeom prst="ellipse">
            <a:avLst/>
          </a:prstGeom>
          <a:solidFill>
            <a:srgbClr val="8B0000"/>
          </a:solidFill>
          <a:ln w="12700">
            <a:solidFill>
              <a:srgbClr val="8B0000"/>
            </a:solidFill>
            <a:prstDash val="solid"/>
          </a:ln>
        </p:spPr>
        <p:txBody>
          <a:bodyPr/>
          <a:lstStyle/>
          <a:p>
            <a:endParaRPr lang="en-US"/>
          </a:p>
        </p:txBody>
      </p:sp>
      <p:sp>
        <p:nvSpPr>
          <p:cNvPr id="33" name="Shape 29"/>
          <p:cNvSpPr/>
          <p:nvPr/>
        </p:nvSpPr>
        <p:spPr>
          <a:xfrm>
            <a:off x="2176272" y="3300984"/>
            <a:ext cx="6583680" cy="566928"/>
          </a:xfrm>
          <a:prstGeom prst="rect">
            <a:avLst/>
          </a:prstGeom>
          <a:solidFill>
            <a:srgbClr val="FFFFFF"/>
          </a:solidFill>
          <a:ln w="12700">
            <a:solidFill>
              <a:srgbClr val="D4A0A0"/>
            </a:solidFill>
            <a:prstDash val="solid"/>
          </a:ln>
        </p:spPr>
        <p:txBody>
          <a:bodyPr/>
          <a:lstStyle/>
          <a:p>
            <a:endParaRPr lang="en-US"/>
          </a:p>
        </p:txBody>
      </p:sp>
      <p:sp>
        <p:nvSpPr>
          <p:cNvPr id="34" name="Shape 30"/>
          <p:cNvSpPr/>
          <p:nvPr/>
        </p:nvSpPr>
        <p:spPr>
          <a:xfrm>
            <a:off x="2176272" y="3300984"/>
            <a:ext cx="64008" cy="566928"/>
          </a:xfrm>
          <a:prstGeom prst="rect">
            <a:avLst/>
          </a:prstGeom>
          <a:solidFill>
            <a:srgbClr val="8B0000"/>
          </a:solidFill>
          <a:ln w="12700">
            <a:solidFill>
              <a:srgbClr val="8B0000"/>
            </a:solidFill>
            <a:prstDash val="solid"/>
          </a:ln>
        </p:spPr>
        <p:txBody>
          <a:bodyPr/>
          <a:lstStyle/>
          <a:p>
            <a:endParaRPr lang="en-US"/>
          </a:p>
        </p:txBody>
      </p:sp>
      <p:sp>
        <p:nvSpPr>
          <p:cNvPr id="35" name="Text 31"/>
          <p:cNvSpPr/>
          <p:nvPr/>
        </p:nvSpPr>
        <p:spPr>
          <a:xfrm>
            <a:off x="2331720" y="3337560"/>
            <a:ext cx="6217920" cy="22860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Cloud Deployment &amp; Load Testing</a:t>
            </a:r>
            <a:endParaRPr lang="en-US" sz="1100" dirty="0"/>
          </a:p>
        </p:txBody>
      </p:sp>
      <p:sp>
        <p:nvSpPr>
          <p:cNvPr id="36" name="Text 32"/>
          <p:cNvSpPr/>
          <p:nvPr/>
        </p:nvSpPr>
        <p:spPr>
          <a:xfrm>
            <a:off x="2331720" y="3575304"/>
            <a:ext cx="6217920" cy="25603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Deploy FastAPI to Azure App Service · connect Streamlit frontend · run Locust at 10 / 50 / 100 users</a:t>
            </a:r>
            <a:endParaRPr lang="en-US" sz="950" dirty="0"/>
          </a:p>
        </p:txBody>
      </p:sp>
      <p:sp>
        <p:nvSpPr>
          <p:cNvPr id="37" name="Shape 33"/>
          <p:cNvSpPr/>
          <p:nvPr/>
        </p:nvSpPr>
        <p:spPr>
          <a:xfrm>
            <a:off x="1956816" y="3867912"/>
            <a:ext cx="36576" cy="228600"/>
          </a:xfrm>
          <a:prstGeom prst="rect">
            <a:avLst/>
          </a:prstGeom>
          <a:solidFill>
            <a:srgbClr val="E8A0A0"/>
          </a:solidFill>
          <a:ln w="12700">
            <a:solidFill>
              <a:srgbClr val="E8A0A0"/>
            </a:solidFill>
            <a:prstDash val="solid"/>
          </a:ln>
        </p:spPr>
        <p:txBody>
          <a:bodyPr/>
          <a:lstStyle/>
          <a:p>
            <a:endParaRPr lang="en-US"/>
          </a:p>
        </p:txBody>
      </p:sp>
      <p:sp>
        <p:nvSpPr>
          <p:cNvPr id="38" name="Shape 34"/>
          <p:cNvSpPr/>
          <p:nvPr/>
        </p:nvSpPr>
        <p:spPr>
          <a:xfrm>
            <a:off x="347472" y="4096512"/>
            <a:ext cx="1417320" cy="566928"/>
          </a:xfrm>
          <a:prstGeom prst="rect">
            <a:avLst/>
          </a:prstGeom>
          <a:solidFill>
            <a:srgbClr val="8B0000"/>
          </a:solidFill>
          <a:ln w="12700">
            <a:solidFill>
              <a:srgbClr val="8B0000"/>
            </a:solidFill>
            <a:prstDash val="solid"/>
          </a:ln>
        </p:spPr>
        <p:txBody>
          <a:bodyPr/>
          <a:lstStyle/>
          <a:p>
            <a:endParaRPr lang="en-US"/>
          </a:p>
        </p:txBody>
      </p:sp>
      <p:sp>
        <p:nvSpPr>
          <p:cNvPr id="39" name="Text 35"/>
          <p:cNvSpPr/>
          <p:nvPr/>
        </p:nvSpPr>
        <p:spPr>
          <a:xfrm>
            <a:off x="347472" y="4206240"/>
            <a:ext cx="1417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Week 6</a:t>
            </a:r>
            <a:endParaRPr lang="en-US" sz="1000" dirty="0"/>
          </a:p>
        </p:txBody>
      </p:sp>
      <p:sp>
        <p:nvSpPr>
          <p:cNvPr id="40" name="Shape 36"/>
          <p:cNvSpPr/>
          <p:nvPr/>
        </p:nvSpPr>
        <p:spPr>
          <a:xfrm>
            <a:off x="1892808" y="4297680"/>
            <a:ext cx="164592" cy="164592"/>
          </a:xfrm>
          <a:prstGeom prst="ellipse">
            <a:avLst/>
          </a:prstGeom>
          <a:solidFill>
            <a:srgbClr val="8B0000"/>
          </a:solidFill>
          <a:ln w="12700">
            <a:solidFill>
              <a:srgbClr val="8B0000"/>
            </a:solidFill>
            <a:prstDash val="solid"/>
          </a:ln>
        </p:spPr>
        <p:txBody>
          <a:bodyPr/>
          <a:lstStyle/>
          <a:p>
            <a:endParaRPr lang="en-US"/>
          </a:p>
        </p:txBody>
      </p:sp>
      <p:sp>
        <p:nvSpPr>
          <p:cNvPr id="41" name="Shape 37"/>
          <p:cNvSpPr/>
          <p:nvPr/>
        </p:nvSpPr>
        <p:spPr>
          <a:xfrm>
            <a:off x="2176272" y="4096512"/>
            <a:ext cx="6583680" cy="566928"/>
          </a:xfrm>
          <a:prstGeom prst="rect">
            <a:avLst/>
          </a:prstGeom>
          <a:solidFill>
            <a:srgbClr val="FFFFFF"/>
          </a:solidFill>
          <a:ln w="12700">
            <a:solidFill>
              <a:srgbClr val="D4A0A0"/>
            </a:solidFill>
            <a:prstDash val="solid"/>
          </a:ln>
        </p:spPr>
        <p:txBody>
          <a:bodyPr/>
          <a:lstStyle/>
          <a:p>
            <a:endParaRPr lang="en-US"/>
          </a:p>
        </p:txBody>
      </p:sp>
      <p:sp>
        <p:nvSpPr>
          <p:cNvPr id="42" name="Shape 38"/>
          <p:cNvSpPr/>
          <p:nvPr/>
        </p:nvSpPr>
        <p:spPr>
          <a:xfrm>
            <a:off x="2176272" y="4096512"/>
            <a:ext cx="64008" cy="566928"/>
          </a:xfrm>
          <a:prstGeom prst="rect">
            <a:avLst/>
          </a:prstGeom>
          <a:solidFill>
            <a:srgbClr val="8B0000"/>
          </a:solidFill>
          <a:ln w="12700">
            <a:solidFill>
              <a:srgbClr val="8B0000"/>
            </a:solidFill>
            <a:prstDash val="solid"/>
          </a:ln>
        </p:spPr>
        <p:txBody>
          <a:bodyPr/>
          <a:lstStyle/>
          <a:p>
            <a:endParaRPr lang="en-US"/>
          </a:p>
        </p:txBody>
      </p:sp>
      <p:sp>
        <p:nvSpPr>
          <p:cNvPr id="43" name="Text 39"/>
          <p:cNvSpPr/>
          <p:nvPr/>
        </p:nvSpPr>
        <p:spPr>
          <a:xfrm>
            <a:off x="2331720" y="4133088"/>
            <a:ext cx="6217920" cy="22860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Report &amp; Presentation</a:t>
            </a:r>
            <a:endParaRPr lang="en-US" sz="1100" dirty="0"/>
          </a:p>
        </p:txBody>
      </p:sp>
      <p:sp>
        <p:nvSpPr>
          <p:cNvPr id="44" name="Text 40"/>
          <p:cNvSpPr/>
          <p:nvPr/>
        </p:nvSpPr>
        <p:spPr>
          <a:xfrm>
            <a:off x="2331720" y="4370832"/>
            <a:ext cx="6217920" cy="25603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Write 6-page report · compile results, charts, load test graphs · finalize slides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347472" y="201168"/>
            <a:ext cx="8412480" cy="475488"/>
          </a:xfrm>
          <a:prstGeom prst="rect">
            <a:avLst/>
          </a:prstGeom>
          <a:noFill/>
          <a:ln/>
        </p:spPr>
        <p:txBody>
          <a:bodyPr wrap="square" lIns="0" tIns="0" rIns="0" bIns="0" rtlCol="0" anchor="ctr"/>
          <a:lstStyle/>
          <a:p>
            <a:pPr marL="0" indent="0">
              <a:buNone/>
            </a:pPr>
            <a:r>
              <a:rPr lang="en-US" sz="2800" b="1" dirty="0">
                <a:solidFill>
                  <a:srgbClr val="8B0000"/>
                </a:solidFill>
                <a:latin typeface="Georgia" pitchFamily="34" charset="0"/>
                <a:ea typeface="Georgia" pitchFamily="34" charset="-122"/>
                <a:cs typeface="Georgia" pitchFamily="34" charset="-120"/>
              </a:rPr>
              <a:t>Future Considerations</a:t>
            </a:r>
            <a:endParaRPr lang="en-US" sz="2800" dirty="0"/>
          </a:p>
        </p:txBody>
      </p:sp>
      <p:sp>
        <p:nvSpPr>
          <p:cNvPr id="4" name="Text 2"/>
          <p:cNvSpPr/>
          <p:nvPr/>
        </p:nvSpPr>
        <p:spPr>
          <a:xfrm>
            <a:off x="347472" y="713232"/>
            <a:ext cx="8412480" cy="292608"/>
          </a:xfrm>
          <a:prstGeom prst="rect">
            <a:avLst/>
          </a:prstGeom>
          <a:noFill/>
          <a:ln/>
        </p:spPr>
        <p:txBody>
          <a:bodyPr wrap="square" lIns="0" tIns="0" rIns="0" bIns="0"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Potential extensions if deployed in a real healthcare setting</a:t>
            </a:r>
            <a:endParaRPr lang="en-US" sz="1100" dirty="0"/>
          </a:p>
        </p:txBody>
      </p:sp>
      <p:sp>
        <p:nvSpPr>
          <p:cNvPr id="5" name="Shape 3"/>
          <p:cNvSpPr/>
          <p:nvPr/>
        </p:nvSpPr>
        <p:spPr>
          <a:xfrm>
            <a:off x="347472" y="1115568"/>
            <a:ext cx="4160520" cy="1298448"/>
          </a:xfrm>
          <a:prstGeom prst="rect">
            <a:avLst/>
          </a:prstGeom>
          <a:solidFill>
            <a:srgbClr val="FFFFFF"/>
          </a:solidFill>
          <a:ln w="12700">
            <a:solidFill>
              <a:srgbClr val="D4A0A0"/>
            </a:solidFill>
            <a:prstDash val="solid"/>
          </a:ln>
          <a:effectLst>
            <a:outerShdw blurRad="63500" dist="25400" dir="8100000" algn="bl" rotWithShape="0">
              <a:srgbClr val="000000">
                <a:alpha val="7000"/>
              </a:srgbClr>
            </a:outerShdw>
          </a:effectLst>
        </p:spPr>
        <p:txBody>
          <a:bodyPr/>
          <a:lstStyle/>
          <a:p>
            <a:endParaRPr lang="en-US"/>
          </a:p>
        </p:txBody>
      </p:sp>
      <p:sp>
        <p:nvSpPr>
          <p:cNvPr id="6" name="Shape 4"/>
          <p:cNvSpPr/>
          <p:nvPr/>
        </p:nvSpPr>
        <p:spPr>
          <a:xfrm>
            <a:off x="347472" y="1115568"/>
            <a:ext cx="64008" cy="1298448"/>
          </a:xfrm>
          <a:prstGeom prst="rect">
            <a:avLst/>
          </a:prstGeom>
          <a:solidFill>
            <a:srgbClr val="8B0000"/>
          </a:solidFill>
          <a:ln w="12700">
            <a:solidFill>
              <a:srgbClr val="8B0000"/>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93776" y="1243584"/>
            <a:ext cx="329184" cy="329184"/>
          </a:xfrm>
          <a:prstGeom prst="rect">
            <a:avLst/>
          </a:prstGeom>
        </p:spPr>
      </p:pic>
      <p:sp>
        <p:nvSpPr>
          <p:cNvPr id="8" name="Text 5"/>
          <p:cNvSpPr/>
          <p:nvPr/>
        </p:nvSpPr>
        <p:spPr>
          <a:xfrm>
            <a:off x="932688" y="1188720"/>
            <a:ext cx="3483864" cy="320040"/>
          </a:xfrm>
          <a:prstGeom prst="rect">
            <a:avLst/>
          </a:prstGeom>
          <a:noFill/>
          <a:ln/>
        </p:spPr>
        <p:txBody>
          <a:bodyPr wrap="square" lIns="0" tIns="0" rIns="0" bIns="0" rtlCol="0" anchor="ctr"/>
          <a:lstStyle/>
          <a:p>
            <a:pPr marL="0" indent="0">
              <a:buNone/>
            </a:pPr>
            <a:r>
              <a:rPr lang="en-US" sz="1200" b="1" dirty="0">
                <a:solidFill>
                  <a:srgbClr val="8B0000"/>
                </a:solidFill>
                <a:latin typeface="Calibri" pitchFamily="34" charset="0"/>
                <a:ea typeface="Calibri" pitchFamily="34" charset="-122"/>
                <a:cs typeface="Calibri" pitchFamily="34" charset="-120"/>
              </a:rPr>
              <a:t>Patient Portal Integration</a:t>
            </a:r>
            <a:endParaRPr lang="en-US" sz="1200" dirty="0"/>
          </a:p>
        </p:txBody>
      </p:sp>
      <p:sp>
        <p:nvSpPr>
          <p:cNvPr id="9" name="Text 6"/>
          <p:cNvSpPr/>
          <p:nvPr/>
        </p:nvSpPr>
        <p:spPr>
          <a:xfrm>
            <a:off x="932688" y="1536192"/>
            <a:ext cx="3483864" cy="786384"/>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REST API can plug into existing platforms like Epic MyChart or hospital EHR systems — frontend is interchangeable since model logic lives in the backend</a:t>
            </a:r>
            <a:endParaRPr lang="en-US" sz="950" dirty="0"/>
          </a:p>
        </p:txBody>
      </p:sp>
      <p:sp>
        <p:nvSpPr>
          <p:cNvPr id="10" name="Shape 7"/>
          <p:cNvSpPr/>
          <p:nvPr/>
        </p:nvSpPr>
        <p:spPr>
          <a:xfrm>
            <a:off x="4709160" y="1115568"/>
            <a:ext cx="4160520" cy="1298448"/>
          </a:xfrm>
          <a:prstGeom prst="rect">
            <a:avLst/>
          </a:prstGeom>
          <a:solidFill>
            <a:srgbClr val="FFFFFF"/>
          </a:solidFill>
          <a:ln w="12700">
            <a:solidFill>
              <a:srgbClr val="D4A0A0"/>
            </a:solidFill>
            <a:prstDash val="solid"/>
          </a:ln>
          <a:effectLst>
            <a:outerShdw blurRad="63500" dist="25400" dir="8100000" algn="bl" rotWithShape="0">
              <a:srgbClr val="000000">
                <a:alpha val="7000"/>
              </a:srgbClr>
            </a:outerShdw>
          </a:effectLst>
        </p:spPr>
        <p:txBody>
          <a:bodyPr/>
          <a:lstStyle/>
          <a:p>
            <a:endParaRPr lang="en-US"/>
          </a:p>
        </p:txBody>
      </p:sp>
      <p:sp>
        <p:nvSpPr>
          <p:cNvPr id="11" name="Shape 8"/>
          <p:cNvSpPr/>
          <p:nvPr/>
        </p:nvSpPr>
        <p:spPr>
          <a:xfrm>
            <a:off x="4709160" y="1115568"/>
            <a:ext cx="64008" cy="1298448"/>
          </a:xfrm>
          <a:prstGeom prst="rect">
            <a:avLst/>
          </a:prstGeom>
          <a:solidFill>
            <a:srgbClr val="8B0000"/>
          </a:solidFill>
          <a:ln w="12700">
            <a:solidFill>
              <a:srgbClr val="8B0000"/>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855464" y="1243584"/>
            <a:ext cx="329184" cy="329184"/>
          </a:xfrm>
          <a:prstGeom prst="rect">
            <a:avLst/>
          </a:prstGeom>
        </p:spPr>
      </p:pic>
      <p:sp>
        <p:nvSpPr>
          <p:cNvPr id="13" name="Text 9"/>
          <p:cNvSpPr/>
          <p:nvPr/>
        </p:nvSpPr>
        <p:spPr>
          <a:xfrm>
            <a:off x="5294376" y="1188720"/>
            <a:ext cx="3483864" cy="320040"/>
          </a:xfrm>
          <a:prstGeom prst="rect">
            <a:avLst/>
          </a:prstGeom>
          <a:noFill/>
          <a:ln/>
        </p:spPr>
        <p:txBody>
          <a:bodyPr wrap="square" lIns="0" tIns="0" rIns="0" bIns="0" rtlCol="0" anchor="ctr"/>
          <a:lstStyle/>
          <a:p>
            <a:pPr marL="0" indent="0">
              <a:buNone/>
            </a:pPr>
            <a:r>
              <a:rPr lang="en-US" sz="1200" b="1" dirty="0">
                <a:solidFill>
                  <a:srgbClr val="8B0000"/>
                </a:solidFill>
                <a:latin typeface="Calibri" pitchFamily="34" charset="0"/>
                <a:ea typeface="Calibri" pitchFamily="34" charset="-122"/>
                <a:cs typeface="Calibri" pitchFamily="34" charset="-120"/>
              </a:rPr>
              <a:t>Real-Time EHR Data Pull</a:t>
            </a:r>
            <a:endParaRPr lang="en-US" sz="1200" dirty="0"/>
          </a:p>
        </p:txBody>
      </p:sp>
      <p:sp>
        <p:nvSpPr>
          <p:cNvPr id="14" name="Text 10"/>
          <p:cNvSpPr/>
          <p:nvPr/>
        </p:nvSpPr>
        <p:spPr>
          <a:xfrm>
            <a:off x="5294376" y="1536192"/>
            <a:ext cx="3483864" cy="786384"/>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Instead of manual entry, pull cholesterol, blood pressure, and vitals directly from the patient's electronic health records</a:t>
            </a:r>
            <a:endParaRPr lang="en-US" sz="950" dirty="0"/>
          </a:p>
        </p:txBody>
      </p:sp>
      <p:sp>
        <p:nvSpPr>
          <p:cNvPr id="15" name="Shape 11"/>
          <p:cNvSpPr/>
          <p:nvPr/>
        </p:nvSpPr>
        <p:spPr>
          <a:xfrm>
            <a:off x="347472" y="2633472"/>
            <a:ext cx="4160520" cy="1298448"/>
          </a:xfrm>
          <a:prstGeom prst="rect">
            <a:avLst/>
          </a:prstGeom>
          <a:solidFill>
            <a:srgbClr val="FFFFFF"/>
          </a:solidFill>
          <a:ln w="12700">
            <a:solidFill>
              <a:srgbClr val="D4A0A0"/>
            </a:solidFill>
            <a:prstDash val="solid"/>
          </a:ln>
          <a:effectLst>
            <a:outerShdw blurRad="63500" dist="25400" dir="8100000" algn="bl" rotWithShape="0">
              <a:srgbClr val="000000">
                <a:alpha val="7000"/>
              </a:srgbClr>
            </a:outerShdw>
          </a:effectLst>
        </p:spPr>
        <p:txBody>
          <a:bodyPr/>
          <a:lstStyle/>
          <a:p>
            <a:endParaRPr lang="en-US"/>
          </a:p>
        </p:txBody>
      </p:sp>
      <p:sp>
        <p:nvSpPr>
          <p:cNvPr id="16" name="Shape 12"/>
          <p:cNvSpPr/>
          <p:nvPr/>
        </p:nvSpPr>
        <p:spPr>
          <a:xfrm>
            <a:off x="347472" y="2633472"/>
            <a:ext cx="64008" cy="1298448"/>
          </a:xfrm>
          <a:prstGeom prst="rect">
            <a:avLst/>
          </a:prstGeom>
          <a:solidFill>
            <a:srgbClr val="8B0000"/>
          </a:solidFill>
          <a:ln w="12700">
            <a:solidFill>
              <a:srgbClr val="8B0000"/>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493776" y="2761488"/>
            <a:ext cx="329184" cy="329184"/>
          </a:xfrm>
          <a:prstGeom prst="rect">
            <a:avLst/>
          </a:prstGeom>
        </p:spPr>
      </p:pic>
      <p:sp>
        <p:nvSpPr>
          <p:cNvPr id="18" name="Text 13"/>
          <p:cNvSpPr/>
          <p:nvPr/>
        </p:nvSpPr>
        <p:spPr>
          <a:xfrm>
            <a:off x="932688" y="2706624"/>
            <a:ext cx="3483864" cy="320040"/>
          </a:xfrm>
          <a:prstGeom prst="rect">
            <a:avLst/>
          </a:prstGeom>
          <a:noFill/>
          <a:ln/>
        </p:spPr>
        <p:txBody>
          <a:bodyPr wrap="square" lIns="0" tIns="0" rIns="0" bIns="0" rtlCol="0" anchor="ctr"/>
          <a:lstStyle/>
          <a:p>
            <a:pPr marL="0" indent="0">
              <a:buNone/>
            </a:pPr>
            <a:r>
              <a:rPr lang="en-US" sz="1200" b="1" dirty="0">
                <a:solidFill>
                  <a:srgbClr val="8B0000"/>
                </a:solidFill>
                <a:latin typeface="Calibri" pitchFamily="34" charset="0"/>
                <a:ea typeface="Calibri" pitchFamily="34" charset="-122"/>
                <a:cs typeface="Calibri" pitchFamily="34" charset="-120"/>
              </a:rPr>
              <a:t>HIPAA Compliance</a:t>
            </a:r>
            <a:endParaRPr lang="en-US" sz="1200" dirty="0"/>
          </a:p>
        </p:txBody>
      </p:sp>
      <p:sp>
        <p:nvSpPr>
          <p:cNvPr id="19" name="Text 14"/>
          <p:cNvSpPr/>
          <p:nvPr/>
        </p:nvSpPr>
        <p:spPr>
          <a:xfrm>
            <a:off x="932688" y="3054096"/>
            <a:ext cx="3483864" cy="786384"/>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Real deployment would require encrypted data storage, access controls, and audit logging to meet healthcare privacy regulations</a:t>
            </a:r>
            <a:endParaRPr lang="en-US" sz="950" dirty="0"/>
          </a:p>
        </p:txBody>
      </p:sp>
      <p:sp>
        <p:nvSpPr>
          <p:cNvPr id="20" name="Shape 15"/>
          <p:cNvSpPr/>
          <p:nvPr/>
        </p:nvSpPr>
        <p:spPr>
          <a:xfrm>
            <a:off x="4709160" y="2633472"/>
            <a:ext cx="4160520" cy="1298448"/>
          </a:xfrm>
          <a:prstGeom prst="rect">
            <a:avLst/>
          </a:prstGeom>
          <a:solidFill>
            <a:srgbClr val="FFFFFF"/>
          </a:solidFill>
          <a:ln w="12700">
            <a:solidFill>
              <a:srgbClr val="D4A0A0"/>
            </a:solidFill>
            <a:prstDash val="solid"/>
          </a:ln>
          <a:effectLst>
            <a:outerShdw blurRad="63500" dist="25400" dir="8100000" algn="bl" rotWithShape="0">
              <a:srgbClr val="000000">
                <a:alpha val="7000"/>
              </a:srgbClr>
            </a:outerShdw>
          </a:effectLst>
        </p:spPr>
        <p:txBody>
          <a:bodyPr/>
          <a:lstStyle/>
          <a:p>
            <a:endParaRPr lang="en-US"/>
          </a:p>
        </p:txBody>
      </p:sp>
      <p:sp>
        <p:nvSpPr>
          <p:cNvPr id="21" name="Shape 16"/>
          <p:cNvSpPr/>
          <p:nvPr/>
        </p:nvSpPr>
        <p:spPr>
          <a:xfrm>
            <a:off x="4709160" y="2633472"/>
            <a:ext cx="64008" cy="1298448"/>
          </a:xfrm>
          <a:prstGeom prst="rect">
            <a:avLst/>
          </a:prstGeom>
          <a:solidFill>
            <a:srgbClr val="8B0000"/>
          </a:solidFill>
          <a:ln w="12700">
            <a:solidFill>
              <a:srgbClr val="8B0000"/>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4855464" y="2761488"/>
            <a:ext cx="329184" cy="329184"/>
          </a:xfrm>
          <a:prstGeom prst="rect">
            <a:avLst/>
          </a:prstGeom>
        </p:spPr>
      </p:pic>
      <p:sp>
        <p:nvSpPr>
          <p:cNvPr id="23" name="Text 17"/>
          <p:cNvSpPr/>
          <p:nvPr/>
        </p:nvSpPr>
        <p:spPr>
          <a:xfrm>
            <a:off x="5294376" y="2706624"/>
            <a:ext cx="3483864" cy="320040"/>
          </a:xfrm>
          <a:prstGeom prst="rect">
            <a:avLst/>
          </a:prstGeom>
          <a:noFill/>
          <a:ln/>
        </p:spPr>
        <p:txBody>
          <a:bodyPr wrap="square" lIns="0" tIns="0" rIns="0" bIns="0" rtlCol="0" anchor="ctr"/>
          <a:lstStyle/>
          <a:p>
            <a:pPr marL="0" indent="0">
              <a:buNone/>
            </a:pPr>
            <a:r>
              <a:rPr lang="en-US" sz="1200" b="1" dirty="0">
                <a:solidFill>
                  <a:srgbClr val="8B0000"/>
                </a:solidFill>
                <a:latin typeface="Calibri" pitchFamily="34" charset="0"/>
                <a:ea typeface="Calibri" pitchFamily="34" charset="-122"/>
                <a:cs typeface="Calibri" pitchFamily="34" charset="-120"/>
              </a:rPr>
              <a:t>Automated Model Retraining</a:t>
            </a:r>
            <a:endParaRPr lang="en-US" sz="1200" dirty="0"/>
          </a:p>
        </p:txBody>
      </p:sp>
      <p:sp>
        <p:nvSpPr>
          <p:cNvPr id="24" name="Text 18"/>
          <p:cNvSpPr/>
          <p:nvPr/>
        </p:nvSpPr>
        <p:spPr>
          <a:xfrm>
            <a:off x="5294376" y="3054096"/>
            <a:ext cx="3483864" cy="786384"/>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As more patient data flows in through the portal, the model could be periodically retrained to improve accuracy over time</a:t>
            </a:r>
            <a:endParaRPr lang="en-US" sz="950" dirty="0"/>
          </a:p>
        </p:txBody>
      </p:sp>
      <p:sp>
        <p:nvSpPr>
          <p:cNvPr id="25" name="Shape 19"/>
          <p:cNvSpPr/>
          <p:nvPr/>
        </p:nvSpPr>
        <p:spPr>
          <a:xfrm>
            <a:off x="2523744" y="4151376"/>
            <a:ext cx="4160520" cy="1298448"/>
          </a:xfrm>
          <a:prstGeom prst="rect">
            <a:avLst/>
          </a:prstGeom>
          <a:solidFill>
            <a:srgbClr val="FFFFFF"/>
          </a:solidFill>
          <a:ln w="12700">
            <a:solidFill>
              <a:srgbClr val="D4A0A0"/>
            </a:solidFill>
            <a:prstDash val="solid"/>
          </a:ln>
          <a:effectLst>
            <a:outerShdw blurRad="63500" dist="25400" dir="8100000" algn="bl" rotWithShape="0">
              <a:srgbClr val="000000">
                <a:alpha val="7000"/>
              </a:srgbClr>
            </a:outerShdw>
          </a:effectLst>
        </p:spPr>
        <p:txBody>
          <a:bodyPr/>
          <a:lstStyle/>
          <a:p>
            <a:endParaRPr lang="en-US"/>
          </a:p>
        </p:txBody>
      </p:sp>
      <p:sp>
        <p:nvSpPr>
          <p:cNvPr id="26" name="Shape 20"/>
          <p:cNvSpPr/>
          <p:nvPr/>
        </p:nvSpPr>
        <p:spPr>
          <a:xfrm>
            <a:off x="2523744" y="4151376"/>
            <a:ext cx="64008" cy="1298448"/>
          </a:xfrm>
          <a:prstGeom prst="rect">
            <a:avLst/>
          </a:prstGeom>
          <a:solidFill>
            <a:srgbClr val="8B0000"/>
          </a:solidFill>
          <a:ln w="12700">
            <a:solidFill>
              <a:srgbClr val="8B0000"/>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2670048" y="4279392"/>
            <a:ext cx="329184" cy="329184"/>
          </a:xfrm>
          <a:prstGeom prst="rect">
            <a:avLst/>
          </a:prstGeom>
        </p:spPr>
      </p:pic>
      <p:sp>
        <p:nvSpPr>
          <p:cNvPr id="28" name="Text 21"/>
          <p:cNvSpPr/>
          <p:nvPr/>
        </p:nvSpPr>
        <p:spPr>
          <a:xfrm>
            <a:off x="3108960" y="4224528"/>
            <a:ext cx="3483864" cy="320040"/>
          </a:xfrm>
          <a:prstGeom prst="rect">
            <a:avLst/>
          </a:prstGeom>
          <a:noFill/>
          <a:ln/>
        </p:spPr>
        <p:txBody>
          <a:bodyPr wrap="square" lIns="0" tIns="0" rIns="0" bIns="0" rtlCol="0" anchor="ctr"/>
          <a:lstStyle/>
          <a:p>
            <a:pPr marL="0" indent="0">
              <a:buNone/>
            </a:pPr>
            <a:r>
              <a:rPr lang="en-US" sz="1200" b="1" dirty="0">
                <a:solidFill>
                  <a:srgbClr val="8B0000"/>
                </a:solidFill>
                <a:latin typeface="Calibri" pitchFamily="34" charset="0"/>
                <a:ea typeface="Calibri" pitchFamily="34" charset="-122"/>
                <a:cs typeface="Calibri" pitchFamily="34" charset="-120"/>
              </a:rPr>
              <a:t>Physician-Facing Dashboard</a:t>
            </a:r>
            <a:endParaRPr lang="en-US" sz="1200" dirty="0"/>
          </a:p>
        </p:txBody>
      </p:sp>
      <p:sp>
        <p:nvSpPr>
          <p:cNvPr id="29" name="Text 22"/>
          <p:cNvSpPr/>
          <p:nvPr/>
        </p:nvSpPr>
        <p:spPr>
          <a:xfrm>
            <a:off x="3108960" y="4572000"/>
            <a:ext cx="3483864" cy="786384"/>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Separate view for clinicians to review flagged high-risk patients and track risk trends across their patient population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8B0000"/>
        </a:solidFill>
        <a:effectLst/>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A00000">
              <a:alpha val="45000"/>
            </a:srgbClr>
          </a:solidFill>
          <a:ln w="12700">
            <a:solidFill>
              <a:srgbClr val="A00000">
                <a:alpha val="45000"/>
              </a:srgbClr>
            </a:solidFill>
            <a:prstDash val="solid"/>
          </a:ln>
        </p:spPr>
        <p:txBody>
          <a:bodyPr/>
          <a:lstStyle/>
          <a:p>
            <a:endParaRPr lang="en-US"/>
          </a:p>
        </p:txBody>
      </p:sp>
      <p:sp>
        <p:nvSpPr>
          <p:cNvPr id="3" name="Shape 1"/>
          <p:cNvSpPr/>
          <p:nvPr/>
        </p:nvSpPr>
        <p:spPr>
          <a:xfrm>
            <a:off x="-914400" y="3200400"/>
            <a:ext cx="2743200" cy="2743200"/>
          </a:xfrm>
          <a:prstGeom prst="ellipse">
            <a:avLst/>
          </a:prstGeom>
          <a:solidFill>
            <a:srgbClr val="A00000">
              <a:alpha val="45000"/>
            </a:srgbClr>
          </a:solidFill>
          <a:ln w="12700">
            <a:solidFill>
              <a:srgbClr val="A00000">
                <a:alpha val="45000"/>
              </a:srgbClr>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3749040" y="640080"/>
            <a:ext cx="1645920" cy="1645920"/>
          </a:xfrm>
          <a:prstGeom prst="rect">
            <a:avLst/>
          </a:prstGeom>
        </p:spPr>
      </p:pic>
      <p:sp>
        <p:nvSpPr>
          <p:cNvPr id="5" name="Text 2"/>
          <p:cNvSpPr/>
          <p:nvPr/>
        </p:nvSpPr>
        <p:spPr>
          <a:xfrm>
            <a:off x="914400" y="2468880"/>
            <a:ext cx="7315200" cy="685800"/>
          </a:xfrm>
          <a:prstGeom prst="rect">
            <a:avLst/>
          </a:prstGeom>
          <a:noFill/>
          <a:ln/>
        </p:spPr>
        <p:txBody>
          <a:bodyPr wrap="square" lIns="0" tIns="0" rIns="0" bIns="0" rtlCol="0" anchor="ctr"/>
          <a:lstStyle/>
          <a:p>
            <a:pPr marL="0" indent="0" algn="ctr">
              <a:buNone/>
            </a:pPr>
            <a:r>
              <a:rPr lang="en-US" sz="3800" b="1" dirty="0">
                <a:solidFill>
                  <a:srgbClr val="FFFFFF"/>
                </a:solidFill>
                <a:latin typeface="Georgia" pitchFamily="34" charset="0"/>
                <a:ea typeface="Georgia" pitchFamily="34" charset="-122"/>
                <a:cs typeface="Georgia" pitchFamily="34" charset="-120"/>
              </a:rPr>
              <a:t>Thank You</a:t>
            </a:r>
            <a:endParaRPr lang="en-US" sz="3800" dirty="0"/>
          </a:p>
        </p:txBody>
      </p:sp>
      <p:sp>
        <p:nvSpPr>
          <p:cNvPr id="6" name="Text 3"/>
          <p:cNvSpPr/>
          <p:nvPr/>
        </p:nvSpPr>
        <p:spPr>
          <a:xfrm>
            <a:off x="914400" y="3200400"/>
            <a:ext cx="7315200" cy="411480"/>
          </a:xfrm>
          <a:prstGeom prst="rect">
            <a:avLst/>
          </a:prstGeom>
          <a:noFill/>
          <a:ln/>
        </p:spPr>
        <p:txBody>
          <a:bodyPr wrap="square" lIns="0" tIns="0" rIns="0" bIns="0" rtlCol="0" anchor="ctr"/>
          <a:lstStyle/>
          <a:p>
            <a:pPr marL="0" indent="0" algn="ctr">
              <a:buNone/>
            </a:pPr>
            <a:r>
              <a:rPr lang="en-US" sz="1600" dirty="0">
                <a:solidFill>
                  <a:srgbClr val="E8A0A0"/>
                </a:solidFill>
                <a:latin typeface="Calibri" pitchFamily="34" charset="0"/>
                <a:ea typeface="Calibri" pitchFamily="34" charset="-122"/>
                <a:cs typeface="Calibri" pitchFamily="34" charset="-120"/>
              </a:rPr>
              <a:t>Questions &amp; Discussion</a:t>
            </a:r>
            <a:endParaRPr lang="en-US" sz="1600" dirty="0"/>
          </a:p>
        </p:txBody>
      </p:sp>
      <p:sp>
        <p:nvSpPr>
          <p:cNvPr id="8" name="Text 5"/>
          <p:cNvSpPr/>
          <p:nvPr/>
        </p:nvSpPr>
        <p:spPr>
          <a:xfrm>
            <a:off x="658368" y="3867912"/>
            <a:ext cx="1874520" cy="365760"/>
          </a:xfrm>
          <a:prstGeom prst="rect">
            <a:avLst/>
          </a:prstGeom>
          <a:noFill/>
          <a:ln/>
        </p:spPr>
        <p:txBody>
          <a:bodyPr wrap="square" lIns="0" tIns="0" rIns="0" bIns="0" rtlCol="0" anchor="ctr"/>
          <a:lstStyle/>
          <a:p>
            <a:pPr marL="0" indent="0" algn="ctr">
              <a:buNone/>
            </a:pPr>
            <a:endParaRPr lang="en-US" sz="900" dirty="0"/>
          </a:p>
        </p:txBody>
      </p:sp>
      <p:sp>
        <p:nvSpPr>
          <p:cNvPr id="10" name="Text 7"/>
          <p:cNvSpPr/>
          <p:nvPr/>
        </p:nvSpPr>
        <p:spPr>
          <a:xfrm>
            <a:off x="2642616" y="3867912"/>
            <a:ext cx="1874520" cy="365760"/>
          </a:xfrm>
          <a:prstGeom prst="rect">
            <a:avLst/>
          </a:prstGeom>
          <a:noFill/>
          <a:ln/>
        </p:spPr>
        <p:txBody>
          <a:bodyPr wrap="square" lIns="0" tIns="0" rIns="0" bIns="0" rtlCol="0" anchor="ctr"/>
          <a:lstStyle/>
          <a:p>
            <a:pPr marL="0" indent="0" algn="ctr">
              <a:buNone/>
            </a:pPr>
            <a:endParaRPr lang="en-US" sz="900" dirty="0"/>
          </a:p>
        </p:txBody>
      </p:sp>
      <p:sp>
        <p:nvSpPr>
          <p:cNvPr id="12" name="Text 9"/>
          <p:cNvSpPr/>
          <p:nvPr/>
        </p:nvSpPr>
        <p:spPr>
          <a:xfrm>
            <a:off x="4626864" y="3867912"/>
            <a:ext cx="1874520" cy="365760"/>
          </a:xfrm>
          <a:prstGeom prst="rect">
            <a:avLst/>
          </a:prstGeom>
          <a:noFill/>
          <a:ln/>
        </p:spPr>
        <p:txBody>
          <a:bodyPr wrap="square" lIns="0" tIns="0" rIns="0" bIns="0" rtlCol="0" anchor="ctr"/>
          <a:lstStyle/>
          <a:p>
            <a:pPr marL="0" indent="0" algn="ctr">
              <a:buNone/>
            </a:pPr>
            <a:endParaRPr lang="en-US" sz="900" dirty="0"/>
          </a:p>
        </p:txBody>
      </p:sp>
      <p:sp>
        <p:nvSpPr>
          <p:cNvPr id="14" name="Text 11"/>
          <p:cNvSpPr/>
          <p:nvPr/>
        </p:nvSpPr>
        <p:spPr>
          <a:xfrm>
            <a:off x="6611112" y="3867912"/>
            <a:ext cx="1874520" cy="365760"/>
          </a:xfrm>
          <a:prstGeom prst="rect">
            <a:avLst/>
          </a:prstGeom>
          <a:noFill/>
          <a:ln/>
        </p:spPr>
        <p:txBody>
          <a:bodyPr wrap="square" lIns="0" tIns="0" rIns="0" bIns="0" rtlCol="0" anchor="ctr"/>
          <a:lstStyle/>
          <a:p>
            <a:pPr marL="0" indent="0" algn="ctr">
              <a:buNone/>
            </a:pP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TotalTime>
  <Words>1570</Words>
  <Application>Microsoft Office PowerPoint</Application>
  <PresentationFormat>On-screen Show (16:9)</PresentationFormat>
  <Paragraphs>112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 Disease Risk Analyzer - Project Proposal</dc:title>
  <dc:subject>PptxGenJS Presentation</dc:subject>
  <dc:creator>PptxGenJS</dc:creator>
  <cp:lastModifiedBy>Cyron Trazona</cp:lastModifiedBy>
  <cp:revision>1</cp:revision>
  <dcterms:created xsi:type="dcterms:W3CDTF">2026-03-11T03:15:27Z</dcterms:created>
  <dcterms:modified xsi:type="dcterms:W3CDTF">2026-03-12T14:51:35Z</dcterms:modified>
</cp:coreProperties>
</file>